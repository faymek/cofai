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framework diagram rebuilt from the image-generation reference. Every diagram element on this slide is a native PowerPoint shape, text box, or connector. SCENARIOS contains Training and Inference only. Generation remains a task category. Two context dependencies run from the structure decoder to the feature context and from the feature decoder to the image context. The top context arrows enter the feature lane boundary as in the approved artwork; the bottom context arrows enter the image lane boundary. The framework retains these interfaces independently of current reference-software implementation status.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uctured-data lane"/>
          <p:cNvSpPr/>
          <p:nvPr/>
        </p:nvSpPr>
        <p:spPr>
          <a:xfrm>
            <a:off x="1225033" y="831272"/>
            <a:ext cx="9712765" cy="1435039"/>
          </a:xfrm>
          <a:gradFill rotWithShape="1">
            <a:gsLst>
              <a:gs pos="0">
                <a:srgbClr val="F5F1FD"/>
              </a:gs>
              <a:gs pos="100000">
                <a:srgbClr val="EDE7FB"/>
              </a:gs>
            </a:gsLst>
            <a:lin ang="5400000" scaled="1"/>
          </a:gradFill>
          <a:prstGeom prst="roundRect">
            <a:avLst>
              <a:gd name="adj" fmla="val 6707"/>
            </a:avLst>
          </a:prstGeom>
          <a:ln w="10795">
            <a:solidFill>
              <a:srgbClr val="BFA8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oundation-feature lane"/>
          <p:cNvSpPr/>
          <p:nvPr/>
        </p:nvSpPr>
        <p:spPr>
          <a:xfrm>
            <a:off x="1225033" y="3806354"/>
            <a:ext cx="9712765" cy="1400038"/>
          </a:xfrm>
          <a:gradFill rotWithShape="1">
            <a:gsLst>
              <a:gs pos="0">
                <a:srgbClr val="ECF7FF"/>
              </a:gs>
              <a:gs pos="100000">
                <a:srgbClr val="DFEFFD"/>
              </a:gs>
            </a:gsLst>
            <a:lin ang="5400000" scaled="1"/>
          </a:gradFill>
          <a:prstGeom prst="roundRect">
            <a:avLst>
              <a:gd name="adj" fmla="val 6875"/>
            </a:avLst>
          </a:prstGeom>
          <a:ln w="10795">
            <a:solidFill>
              <a:srgbClr val="76BAF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Image-pixel lane"/>
          <p:cNvSpPr/>
          <p:nvPr/>
        </p:nvSpPr>
        <p:spPr>
          <a:xfrm>
            <a:off x="1225033" y="6685182"/>
            <a:ext cx="9712765" cy="1225033"/>
          </a:xfrm>
          <a:gradFill rotWithShape="1">
            <a:gsLst>
              <a:gs pos="0">
                <a:srgbClr val="ECFBF6"/>
              </a:gs>
              <a:gs pos="100000">
                <a:srgbClr val="DEF5ED"/>
              </a:gs>
            </a:gsLst>
            <a:lin ang="5400000" scaled="1"/>
          </a:gradFill>
          <a:prstGeom prst="roundRect">
            <a:avLst>
              <a:gd name="adj" fmla="val 7857"/>
            </a:avLst>
          </a:prstGeom>
          <a:ln w="10795">
            <a:solidFill>
              <a:srgbClr val="6BC8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cenarios card"/>
          <p:cNvSpPr/>
          <p:nvPr/>
        </p:nvSpPr>
        <p:spPr>
          <a:xfrm>
            <a:off x="11156555" y="813772"/>
            <a:ext cx="3325090" cy="2187559"/>
          </a:xfrm>
          <a:gradFill rotWithShape="1">
            <a:gsLst>
              <a:gs pos="0">
                <a:srgbClr val="FCFDFE"/>
              </a:gs>
              <a:gs pos="100000">
                <a:srgbClr val="F5F8FC"/>
              </a:gs>
            </a:gsLst>
            <a:lin ang="5400000" scaled="1"/>
          </a:gradFill>
          <a:prstGeom prst="roundRect">
            <a:avLst>
              <a:gd name="adj" fmla="val 4400"/>
            </a:avLst>
          </a:prstGeom>
          <a:ln w="10795">
            <a:solidFill>
              <a:srgbClr val="8998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asks card"/>
          <p:cNvSpPr/>
          <p:nvPr/>
        </p:nvSpPr>
        <p:spPr>
          <a:xfrm>
            <a:off x="11156555" y="3193837"/>
            <a:ext cx="3325090" cy="3955108"/>
          </a:xfrm>
          <a:gradFill rotWithShape="1">
            <a:gsLst>
              <a:gs pos="0">
                <a:srgbClr val="FCFDFE"/>
              </a:gs>
              <a:gs pos="100000">
                <a:srgbClr val="F5F8FC"/>
              </a:gs>
            </a:gsLst>
            <a:lin ang="5400000" scaled="1"/>
          </a:gradFill>
          <a:prstGeom prst="roundRect">
            <a:avLst>
              <a:gd name="adj" fmla="val 2894"/>
            </a:avLst>
          </a:prstGeom>
          <a:ln w="10795">
            <a:solidFill>
              <a:srgbClr val="8998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Flow legend"/>
          <p:cNvSpPr/>
          <p:nvPr/>
        </p:nvSpPr>
        <p:spPr>
          <a:xfrm>
            <a:off x="11156555" y="7297699"/>
            <a:ext cx="3325090" cy="700019"/>
          </a:xfrm>
          <a:gradFill rotWithShape="1">
            <a:gsLst>
              <a:gs pos="0">
                <a:srgbClr val="FCFDFE"/>
              </a:gs>
              <a:gs pos="100000">
                <a:srgbClr val="F5F8FC"/>
              </a:gs>
            </a:gsLst>
            <a:lin ang="5400000" scaled="1"/>
          </a:gradFill>
          <a:prstGeom prst="roundRect">
            <a:avLst>
              <a:gd name="adj" fmla="val 13750"/>
            </a:avLst>
          </a:prstGeom>
          <a:ln w="10795">
            <a:solidFill>
              <a:srgbClr val="8998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
          <p:cNvSpPr txBox="1"/>
          <p:nvPr/>
        </p:nvSpPr>
        <p:spPr>
          <a:xfrm>
            <a:off x="1400038" y="17500"/>
            <a:ext cx="11812822" cy="682518"/>
          </a:xfrm>
          <a:prstGeom prst="rect">
            <a:avLst/>
          </a:prstGeom>
          <a:noFill/>
        </p:spPr>
        <p:txBody>
          <a:bodyPr wrap="square" lIns="0" rIns="0" tIns="0" bIns="0" anchor="ctr">
            <a:spAutoFit/>
          </a:bodyPr>
          <a:lstStyle/>
          <a:p>
            <a:pPr algn="ctr">
              <a:spcBef>
                <a:spcPts val="0"/>
              </a:spcBef>
              <a:spcAft>
                <a:spcPts val="0"/>
              </a:spcAft>
              <a:defRPr sz="4409" b="1">
                <a:solidFill>
                  <a:srgbClr val="11234B"/>
                </a:solidFill>
                <a:latin typeface="Arial"/>
              </a:defRPr>
            </a:pPr>
            <a:r>
              <a:t>CoFAI Framework</a:t>
            </a:r>
          </a:p>
        </p:txBody>
      </p:sp>
      <p:sp>
        <p:nvSpPr>
          <p:cNvPr id="9" name="Structure header"/>
          <p:cNvSpPr txBox="1"/>
          <p:nvPr/>
        </p:nvSpPr>
        <p:spPr>
          <a:xfrm>
            <a:off x="1443789" y="901274"/>
            <a:ext cx="4375119" cy="271257"/>
          </a:xfrm>
          <a:prstGeom prst="rect">
            <a:avLst/>
          </a:prstGeom>
          <a:noFill/>
        </p:spPr>
        <p:txBody>
          <a:bodyPr wrap="square" lIns="0" rIns="0" tIns="0" bIns="0" anchor="ctr">
            <a:spAutoFit/>
          </a:bodyPr>
          <a:lstStyle/>
          <a:p>
            <a:pPr algn="l">
              <a:spcBef>
                <a:spcPts val="0"/>
              </a:spcBef>
              <a:spcAft>
                <a:spcPts val="0"/>
              </a:spcAft>
              <a:defRPr sz="1653" b="1">
                <a:solidFill>
                  <a:srgbClr val="49328D"/>
                </a:solidFill>
                <a:latin typeface="Arial"/>
              </a:defRPr>
            </a:pPr>
            <a:r>
              <a:t>Structured Data</a:t>
            </a:r>
          </a:p>
        </p:txBody>
      </p:sp>
      <p:sp>
        <p:nvSpPr>
          <p:cNvPr id="10" name="Structure examples"/>
          <p:cNvSpPr txBox="1"/>
          <p:nvPr/>
        </p:nvSpPr>
        <p:spPr>
          <a:xfrm>
            <a:off x="1443789" y="1155031"/>
            <a:ext cx="5950162" cy="245006"/>
          </a:xfrm>
          <a:prstGeom prst="rect">
            <a:avLst/>
          </a:prstGeom>
          <a:noFill/>
        </p:spPr>
        <p:txBody>
          <a:bodyPr wrap="square" lIns="0" rIns="0" tIns="0" bIns="0" anchor="ctr">
            <a:spAutoFit/>
          </a:bodyPr>
          <a:lstStyle/>
          <a:p>
            <a:pPr algn="l">
              <a:spcBef>
                <a:spcPts val="0"/>
              </a:spcBef>
              <a:spcAft>
                <a:spcPts val="0"/>
              </a:spcAft>
              <a:defRPr sz="1309" b="0">
                <a:solidFill>
                  <a:srgbClr val="11234B"/>
                </a:solidFill>
                <a:latin typeface="Arial"/>
              </a:defRPr>
            </a:pPr>
            <a:r>
              <a:t>Bounding boxes · Masks · Keypoints</a:t>
            </a:r>
          </a:p>
        </p:txBody>
      </p:sp>
      <p:sp>
        <p:nvSpPr>
          <p:cNvPr id="11" name="Feature header"/>
          <p:cNvSpPr txBox="1"/>
          <p:nvPr/>
        </p:nvSpPr>
        <p:spPr>
          <a:xfrm>
            <a:off x="1443789" y="3876355"/>
            <a:ext cx="5775157" cy="280007"/>
          </a:xfrm>
          <a:prstGeom prst="rect">
            <a:avLst/>
          </a:prstGeom>
          <a:noFill/>
        </p:spPr>
        <p:txBody>
          <a:bodyPr wrap="square" lIns="0" rIns="0" tIns="0" bIns="0" anchor="ctr">
            <a:spAutoFit/>
          </a:bodyPr>
          <a:lstStyle/>
          <a:p>
            <a:pPr algn="l">
              <a:spcBef>
                <a:spcPts val="0"/>
              </a:spcBef>
              <a:spcAft>
                <a:spcPts val="0"/>
              </a:spcAft>
              <a:defRPr sz="1653" b="1">
                <a:solidFill>
                  <a:srgbClr val="0865AA"/>
                </a:solidFill>
                <a:latin typeface="Arial"/>
              </a:defRPr>
            </a:pPr>
            <a:r>
              <a:t>Foundation-Model Features</a:t>
            </a:r>
          </a:p>
        </p:txBody>
      </p:sp>
      <p:sp>
        <p:nvSpPr>
          <p:cNvPr id="12" name="Image header"/>
          <p:cNvSpPr txBox="1"/>
          <p:nvPr/>
        </p:nvSpPr>
        <p:spPr>
          <a:xfrm>
            <a:off x="1443789" y="6781435"/>
            <a:ext cx="2975081" cy="280007"/>
          </a:xfrm>
          <a:prstGeom prst="rect">
            <a:avLst/>
          </a:prstGeom>
          <a:noFill/>
        </p:spPr>
        <p:txBody>
          <a:bodyPr wrap="square" lIns="0" rIns="0" tIns="0" bIns="0" anchor="ctr">
            <a:spAutoFit/>
          </a:bodyPr>
          <a:lstStyle/>
          <a:p>
            <a:pPr algn="l">
              <a:spcBef>
                <a:spcPts val="0"/>
              </a:spcBef>
              <a:spcAft>
                <a:spcPts val="0"/>
              </a:spcAft>
              <a:defRPr sz="1722" b="1">
                <a:solidFill>
                  <a:srgbClr val="087D70"/>
                </a:solidFill>
                <a:latin typeface="Arial"/>
              </a:defRPr>
            </a:pPr>
            <a:r>
              <a:t>Image Pixels</a:t>
            </a:r>
          </a:p>
        </p:txBody>
      </p:sp>
      <p:sp>
        <p:nvSpPr>
          <p:cNvPr id="13" name="structure representation"/>
          <p:cNvSpPr/>
          <p:nvPr/>
        </p:nvSpPr>
        <p:spPr>
          <a:xfrm>
            <a:off x="1443789" y="1513791"/>
            <a:ext cx="1837550"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structure encoder"/>
          <p:cNvSpPr/>
          <p:nvPr/>
        </p:nvSpPr>
        <p:spPr>
          <a:xfrm>
            <a:off x="4812631" y="1513791"/>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tructure decoder"/>
          <p:cNvSpPr/>
          <p:nvPr/>
        </p:nvSpPr>
        <p:spPr>
          <a:xfrm>
            <a:off x="6650181" y="1513791"/>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tructure reconstructed output"/>
          <p:cNvSpPr/>
          <p:nvPr/>
        </p:nvSpPr>
        <p:spPr>
          <a:xfrm>
            <a:off x="9012746" y="1513791"/>
            <a:ext cx="1793799"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structure enc label"/>
          <p:cNvSpPr txBox="1"/>
          <p:nvPr/>
        </p:nvSpPr>
        <p:spPr>
          <a:xfrm>
            <a:off x="4812631" y="1513791"/>
            <a:ext cx="962526" cy="612516"/>
          </a:xfrm>
          <a:prstGeom prst="rect">
            <a:avLst/>
          </a:prstGeom>
          <a:noFill/>
        </p:spPr>
        <p:txBody>
          <a:bodyPr wrap="square" lIns="0" rIns="0" tIns="0" bIns="0" anchor="ctr">
            <a:spAutoFit/>
          </a:bodyPr>
          <a:lstStyle/>
          <a:p>
            <a:pPr algn="ctr">
              <a:spcBef>
                <a:spcPts val="0"/>
              </a:spcBef>
              <a:spcAft>
                <a:spcPts val="0"/>
              </a:spcAft>
              <a:defRPr sz="1515" b="1">
                <a:solidFill>
                  <a:srgbClr val="11234B"/>
                </a:solidFill>
                <a:latin typeface="Arial"/>
              </a:defRPr>
            </a:pPr>
            <a:r>
              <a:t>Enc</a:t>
            </a:r>
          </a:p>
        </p:txBody>
      </p:sp>
      <p:sp>
        <p:nvSpPr>
          <p:cNvPr id="18" name="structure dec label"/>
          <p:cNvSpPr txBox="1"/>
          <p:nvPr/>
        </p:nvSpPr>
        <p:spPr>
          <a:xfrm>
            <a:off x="6650181" y="1513791"/>
            <a:ext cx="962526" cy="612516"/>
          </a:xfrm>
          <a:prstGeom prst="rect">
            <a:avLst/>
          </a:prstGeom>
          <a:noFill/>
        </p:spPr>
        <p:txBody>
          <a:bodyPr wrap="square" lIns="0" rIns="0" tIns="0" bIns="0" anchor="ctr">
            <a:spAutoFit/>
          </a:bodyPr>
          <a:lstStyle/>
          <a:p>
            <a:pPr algn="ctr">
              <a:spcBef>
                <a:spcPts val="0"/>
              </a:spcBef>
              <a:spcAft>
                <a:spcPts val="0"/>
              </a:spcAft>
              <a:defRPr sz="1515" b="1">
                <a:solidFill>
                  <a:srgbClr val="11234B"/>
                </a:solidFill>
                <a:latin typeface="Arial"/>
              </a:defRPr>
            </a:pPr>
            <a:r>
              <a:t>Dec</a:t>
            </a:r>
          </a:p>
        </p:txBody>
      </p:sp>
      <p:sp>
        <p:nvSpPr>
          <p:cNvPr id="19" name="structure bitstream0"/>
          <p:cNvSpPr/>
          <p:nvPr/>
        </p:nvSpPr>
        <p:spPr>
          <a:xfrm>
            <a:off x="6055165" y="1470040"/>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structure bitstream1"/>
          <p:cNvSpPr/>
          <p:nvPr/>
        </p:nvSpPr>
        <p:spPr>
          <a:xfrm>
            <a:off x="6055165" y="1610044"/>
            <a:ext cx="175004" cy="140003"/>
          </a:xfrm>
          <a:prstGeom prst="rect">
            <a:avLst/>
          </a:prstGeom>
          <a:solidFill>
            <a:srgbClr val="FFFFFF"/>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structure bitstream2"/>
          <p:cNvSpPr/>
          <p:nvPr/>
        </p:nvSpPr>
        <p:spPr>
          <a:xfrm>
            <a:off x="6055165" y="1750047"/>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tructure bitstream3"/>
          <p:cNvSpPr/>
          <p:nvPr/>
        </p:nvSpPr>
        <p:spPr>
          <a:xfrm>
            <a:off x="6055165" y="1890051"/>
            <a:ext cx="175004" cy="140003"/>
          </a:xfrm>
          <a:prstGeom prst="rect">
            <a:avLst/>
          </a:prstGeom>
          <a:solidFill>
            <a:srgbClr val="FFFFFF"/>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tructure bitstream4"/>
          <p:cNvSpPr/>
          <p:nvPr/>
        </p:nvSpPr>
        <p:spPr>
          <a:xfrm>
            <a:off x="6055165" y="2030055"/>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structure input iconlink0"/>
          <p:cNvCxnSpPr/>
          <p:nvPr/>
        </p:nvCxnSpPr>
        <p:spPr>
          <a:xfrm flipV="1">
            <a:off x="1736922" y="1687046"/>
            <a:ext cx="101065" cy="189880"/>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25" name="structure input iconlink1"/>
          <p:cNvCxnSpPr/>
          <p:nvPr/>
        </p:nvCxnSpPr>
        <p:spPr>
          <a:xfrm>
            <a:off x="1837987" y="1687046"/>
            <a:ext cx="156192" cy="116378"/>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26" name="structure input iconlink2"/>
          <p:cNvCxnSpPr/>
          <p:nvPr/>
        </p:nvCxnSpPr>
        <p:spPr>
          <a:xfrm flipH="1">
            <a:off x="1874738" y="1803424"/>
            <a:ext cx="119441" cy="153129"/>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27" name="structure input iconlink3"/>
          <p:cNvCxnSpPr/>
          <p:nvPr/>
        </p:nvCxnSpPr>
        <p:spPr>
          <a:xfrm flipH="1" flipV="1">
            <a:off x="1736922" y="1876926"/>
            <a:ext cx="137816" cy="79627"/>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sp>
        <p:nvSpPr>
          <p:cNvPr id="28" name="structure input icon0"/>
          <p:cNvSpPr/>
          <p:nvPr/>
        </p:nvSpPr>
        <p:spPr>
          <a:xfrm>
            <a:off x="1700171" y="1840175"/>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structure input icon1"/>
          <p:cNvSpPr/>
          <p:nvPr/>
        </p:nvSpPr>
        <p:spPr>
          <a:xfrm>
            <a:off x="1801236" y="1650295"/>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structure input icon2"/>
          <p:cNvSpPr/>
          <p:nvPr/>
        </p:nvSpPr>
        <p:spPr>
          <a:xfrm>
            <a:off x="1957428" y="1766673"/>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tructure input icon3"/>
          <p:cNvSpPr/>
          <p:nvPr/>
        </p:nvSpPr>
        <p:spPr>
          <a:xfrm>
            <a:off x="1837987" y="1919802"/>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structure output iconlink0"/>
          <p:cNvCxnSpPr/>
          <p:nvPr/>
        </p:nvCxnSpPr>
        <p:spPr>
          <a:xfrm flipV="1">
            <a:off x="9218377" y="1687046"/>
            <a:ext cx="101065" cy="189880"/>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33" name="structure output iconlink1"/>
          <p:cNvCxnSpPr/>
          <p:nvPr/>
        </p:nvCxnSpPr>
        <p:spPr>
          <a:xfrm>
            <a:off x="9319442" y="1687046"/>
            <a:ext cx="156192" cy="116378"/>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34" name="structure output iconlink2"/>
          <p:cNvCxnSpPr/>
          <p:nvPr/>
        </p:nvCxnSpPr>
        <p:spPr>
          <a:xfrm flipH="1">
            <a:off x="9356193" y="1803424"/>
            <a:ext cx="119441" cy="153129"/>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35" name="structure output iconlink3"/>
          <p:cNvCxnSpPr/>
          <p:nvPr/>
        </p:nvCxnSpPr>
        <p:spPr>
          <a:xfrm flipH="1" flipV="1">
            <a:off x="9218377" y="1876926"/>
            <a:ext cx="137816" cy="79627"/>
          </a:xfrm>
          <a:prstGeom prst="line">
            <a:avLst/>
          </a:prstGeom>
          <a:ln w="15875">
            <a:solidFill>
              <a:srgbClr val="49328D"/>
            </a:solidFill>
          </a:ln>
          <a:effectLst/>
        </p:spPr>
        <p:style>
          <a:lnRef idx="2">
            <a:schemeClr val="accent1"/>
          </a:lnRef>
          <a:fillRef idx="0">
            <a:schemeClr val="accent1"/>
          </a:fillRef>
          <a:effectRef idx="0">
            <a:schemeClr val="accent1"/>
          </a:effectRef>
          <a:fontRef idx="minor">
            <a:schemeClr val="tx1"/>
          </a:fontRef>
        </p:style>
      </p:cxnSp>
      <p:sp>
        <p:nvSpPr>
          <p:cNvPr id="36" name="structure output icon0"/>
          <p:cNvSpPr/>
          <p:nvPr/>
        </p:nvSpPr>
        <p:spPr>
          <a:xfrm>
            <a:off x="9181626" y="1840175"/>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structure output icon1"/>
          <p:cNvSpPr/>
          <p:nvPr/>
        </p:nvSpPr>
        <p:spPr>
          <a:xfrm>
            <a:off x="9282691" y="1650295"/>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tructure output icon2"/>
          <p:cNvSpPr/>
          <p:nvPr/>
        </p:nvSpPr>
        <p:spPr>
          <a:xfrm>
            <a:off x="9438883" y="1766673"/>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structure output icon3"/>
          <p:cNvSpPr/>
          <p:nvPr/>
        </p:nvSpPr>
        <p:spPr>
          <a:xfrm>
            <a:off x="9319442" y="1919802"/>
            <a:ext cx="73502" cy="73502"/>
          </a:xfrm>
          <a:prstGeom prst="ellipse">
            <a:avLst/>
          </a:prstGeom>
          <a:solidFill>
            <a:srgbClr val="FFFFFF"/>
          </a:solidFill>
          <a:ln w="2159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tructure input label"/>
          <p:cNvSpPr txBox="1"/>
          <p:nvPr/>
        </p:nvSpPr>
        <p:spPr>
          <a:xfrm>
            <a:off x="2100057" y="1566292"/>
            <a:ext cx="1093779" cy="437511"/>
          </a:xfrm>
          <a:prstGeom prst="rect">
            <a:avLst/>
          </a:prstGeom>
          <a:noFill/>
        </p:spPr>
        <p:txBody>
          <a:bodyPr wrap="square" lIns="0" rIns="0" tIns="0" bIns="0" anchor="ctr">
            <a:spAutoFit/>
          </a:bodyPr>
          <a:lstStyle/>
          <a:p>
            <a:pPr algn="l">
              <a:spcBef>
                <a:spcPts val="0"/>
              </a:spcBef>
              <a:spcAft>
                <a:spcPts val="0"/>
              </a:spcAft>
              <a:defRPr sz="1446" b="1">
                <a:solidFill>
                  <a:srgbClr val="11234B"/>
                </a:solidFill>
                <a:latin typeface="Arial"/>
              </a:defRPr>
            </a:pPr>
            <a:r>
              <a:t>Structure</a:t>
            </a:r>
          </a:p>
        </p:txBody>
      </p:sp>
      <p:sp>
        <p:nvSpPr>
          <p:cNvPr id="41" name="structure output label"/>
          <p:cNvSpPr txBox="1"/>
          <p:nvPr/>
        </p:nvSpPr>
        <p:spPr>
          <a:xfrm>
            <a:off x="9581511" y="1557542"/>
            <a:ext cx="1198782" cy="507513"/>
          </a:xfrm>
          <a:prstGeom prst="rect">
            <a:avLst/>
          </a:prstGeom>
          <a:noFill/>
        </p:spPr>
        <p:txBody>
          <a:bodyPr wrap="square" lIns="0" rIns="0" tIns="0" bIns="0" anchor="ctr">
            <a:spAutoFit/>
          </a:bodyPr>
          <a:lstStyle/>
          <a:p>
            <a:pPr algn="l">
              <a:spcBef>
                <a:spcPts val="0"/>
              </a:spcBef>
              <a:spcAft>
                <a:spcPts val="0"/>
              </a:spcAft>
              <a:defRPr sz="1309" b="1">
                <a:solidFill>
                  <a:srgbClr val="11234B"/>
                </a:solidFill>
                <a:latin typeface="Arial"/>
              </a:defRPr>
            </a:pPr>
            <a:r>
              <a:t>Reconstructed</a:t>
            </a:r>
          </a:p>
          <a:p>
            <a:pPr algn="l">
              <a:spcBef>
                <a:spcPts val="0"/>
              </a:spcBef>
              <a:spcAft>
                <a:spcPts val="0"/>
              </a:spcAft>
              <a:defRPr sz="1309" b="1">
                <a:solidFill>
                  <a:srgbClr val="11234B"/>
                </a:solidFill>
                <a:latin typeface="Arial"/>
              </a:defRPr>
            </a:pPr>
            <a:r>
              <a:t>Structure</a:t>
            </a:r>
          </a:p>
        </p:txBody>
      </p:sp>
      <p:cxnSp>
        <p:nvCxnSpPr>
          <p:cNvPr id="42" name="structure representation to enc"/>
          <p:cNvCxnSpPr>
            <a:stCxn id="13" idx="3"/>
            <a:endCxn id="14" idx="1"/>
          </p:cNvCxnSpPr>
          <p:nvPr/>
        </p:nvCxnSpPr>
        <p:spPr>
          <a:xfrm>
            <a:off x="3281339" y="1820049"/>
            <a:ext cx="1531292"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3" name="structure dec to output"/>
          <p:cNvCxnSpPr>
            <a:stCxn id="15" idx="3"/>
            <a:endCxn id="16" idx="1"/>
          </p:cNvCxnSpPr>
          <p:nvPr/>
        </p:nvCxnSpPr>
        <p:spPr>
          <a:xfrm>
            <a:off x="7612707" y="1820049"/>
            <a:ext cx="1400039"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4" name="structure encoder to stream"/>
          <p:cNvCxnSpPr>
            <a:stCxn id="14" idx="3"/>
          </p:cNvCxnSpPr>
          <p:nvPr/>
        </p:nvCxnSpPr>
        <p:spPr>
          <a:xfrm>
            <a:off x="5775157" y="1820049"/>
            <a:ext cx="280008"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5" name="structure stream to decoder"/>
          <p:cNvCxnSpPr>
            <a:endCxn id="15" idx="1"/>
          </p:cNvCxnSpPr>
          <p:nvPr/>
        </p:nvCxnSpPr>
        <p:spPr>
          <a:xfrm>
            <a:off x="6230170" y="1820049"/>
            <a:ext cx="420011"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6" name="feature representation"/>
          <p:cNvSpPr/>
          <p:nvPr/>
        </p:nvSpPr>
        <p:spPr>
          <a:xfrm>
            <a:off x="1443789" y="4436371"/>
            <a:ext cx="170629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feature encoder"/>
          <p:cNvSpPr/>
          <p:nvPr/>
        </p:nvSpPr>
        <p:spPr>
          <a:xfrm>
            <a:off x="4812631" y="4436371"/>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feature decoder"/>
          <p:cNvSpPr/>
          <p:nvPr/>
        </p:nvSpPr>
        <p:spPr>
          <a:xfrm>
            <a:off x="6650181" y="4436371"/>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feature reconstructed output"/>
          <p:cNvSpPr/>
          <p:nvPr/>
        </p:nvSpPr>
        <p:spPr>
          <a:xfrm>
            <a:off x="9012746" y="4436371"/>
            <a:ext cx="1793799"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feature enc label"/>
          <p:cNvSpPr txBox="1"/>
          <p:nvPr/>
        </p:nvSpPr>
        <p:spPr>
          <a:xfrm>
            <a:off x="4812631" y="4436371"/>
            <a:ext cx="962526" cy="612516"/>
          </a:xfrm>
          <a:prstGeom prst="rect">
            <a:avLst/>
          </a:prstGeom>
          <a:noFill/>
        </p:spPr>
        <p:txBody>
          <a:bodyPr wrap="square" lIns="0" rIns="0" tIns="0" bIns="0" anchor="ctr">
            <a:spAutoFit/>
          </a:bodyPr>
          <a:lstStyle/>
          <a:p>
            <a:pPr algn="ctr">
              <a:spcBef>
                <a:spcPts val="0"/>
              </a:spcBef>
              <a:spcAft>
                <a:spcPts val="0"/>
              </a:spcAft>
              <a:defRPr sz="1515" b="1">
                <a:solidFill>
                  <a:srgbClr val="11234B"/>
                </a:solidFill>
                <a:latin typeface="Arial"/>
              </a:defRPr>
            </a:pPr>
            <a:r>
              <a:t>Enc</a:t>
            </a:r>
          </a:p>
        </p:txBody>
      </p:sp>
      <p:sp>
        <p:nvSpPr>
          <p:cNvPr id="51" name="feature dec label"/>
          <p:cNvSpPr txBox="1"/>
          <p:nvPr/>
        </p:nvSpPr>
        <p:spPr>
          <a:xfrm>
            <a:off x="6650181" y="4436371"/>
            <a:ext cx="962526" cy="612516"/>
          </a:xfrm>
          <a:prstGeom prst="rect">
            <a:avLst/>
          </a:prstGeom>
          <a:noFill/>
        </p:spPr>
        <p:txBody>
          <a:bodyPr wrap="square" lIns="0" rIns="0" tIns="0" bIns="0" anchor="ctr">
            <a:spAutoFit/>
          </a:bodyPr>
          <a:lstStyle/>
          <a:p>
            <a:pPr algn="ctr">
              <a:spcBef>
                <a:spcPts val="0"/>
              </a:spcBef>
              <a:spcAft>
                <a:spcPts val="0"/>
              </a:spcAft>
              <a:defRPr sz="1515" b="1">
                <a:solidFill>
                  <a:srgbClr val="11234B"/>
                </a:solidFill>
                <a:latin typeface="Arial"/>
              </a:defRPr>
            </a:pPr>
            <a:r>
              <a:t>Dec</a:t>
            </a:r>
          </a:p>
        </p:txBody>
      </p:sp>
      <p:sp>
        <p:nvSpPr>
          <p:cNvPr id="52" name="feature bitstream0"/>
          <p:cNvSpPr/>
          <p:nvPr/>
        </p:nvSpPr>
        <p:spPr>
          <a:xfrm>
            <a:off x="6055165" y="4392620"/>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feature bitstream1"/>
          <p:cNvSpPr/>
          <p:nvPr/>
        </p:nvSpPr>
        <p:spPr>
          <a:xfrm>
            <a:off x="6055165" y="4532623"/>
            <a:ext cx="175004" cy="140003"/>
          </a:xfrm>
          <a:prstGeom prst="rect">
            <a:avLst/>
          </a:prstGeom>
          <a:solidFill>
            <a:srgbClr val="FFFFFF"/>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feature bitstream2"/>
          <p:cNvSpPr/>
          <p:nvPr/>
        </p:nvSpPr>
        <p:spPr>
          <a:xfrm>
            <a:off x="6055165" y="4672627"/>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feature bitstream3"/>
          <p:cNvSpPr/>
          <p:nvPr/>
        </p:nvSpPr>
        <p:spPr>
          <a:xfrm>
            <a:off x="6055165" y="4812631"/>
            <a:ext cx="175004" cy="140003"/>
          </a:xfrm>
          <a:prstGeom prst="rect">
            <a:avLst/>
          </a:prstGeom>
          <a:solidFill>
            <a:srgbClr val="FFFFFF"/>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feature bitstream4"/>
          <p:cNvSpPr/>
          <p:nvPr/>
        </p:nvSpPr>
        <p:spPr>
          <a:xfrm>
            <a:off x="6055165" y="4952635"/>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feature input icon cell 0"/>
          <p:cNvSpPr/>
          <p:nvPr/>
        </p:nvSpPr>
        <p:spPr>
          <a:xfrm>
            <a:off x="1706296" y="4585125"/>
            <a:ext cx="76564" cy="76564"/>
          </a:xfrm>
          <a:prstGeom prst="roundRect">
            <a:avLst>
              <a:gd name="adj" fmla="val 14000"/>
            </a:avLst>
          </a:prstGeom>
          <a:solidFill>
            <a:srgbClr val="74B9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feature input icon cell 1"/>
          <p:cNvSpPr/>
          <p:nvPr/>
        </p:nvSpPr>
        <p:spPr>
          <a:xfrm>
            <a:off x="1813487" y="4585125"/>
            <a:ext cx="76564" cy="76564"/>
          </a:xfrm>
          <a:prstGeom prst="roundRect">
            <a:avLst>
              <a:gd name="adj" fmla="val 14000"/>
            </a:avLst>
          </a:prstGeom>
          <a:solidFill>
            <a:srgbClr val="2683B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feature input icon cell 2"/>
          <p:cNvSpPr/>
          <p:nvPr/>
        </p:nvSpPr>
        <p:spPr>
          <a:xfrm>
            <a:off x="1920677" y="4585125"/>
            <a:ext cx="76564" cy="76564"/>
          </a:xfrm>
          <a:prstGeom prst="roundRect">
            <a:avLst>
              <a:gd name="adj" fmla="val 14000"/>
            </a:avLst>
          </a:prstGeom>
          <a:solidFill>
            <a:srgbClr val="A7D4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feature input icon cell 3"/>
          <p:cNvSpPr/>
          <p:nvPr/>
        </p:nvSpPr>
        <p:spPr>
          <a:xfrm>
            <a:off x="1706296" y="4692315"/>
            <a:ext cx="76564" cy="76564"/>
          </a:xfrm>
          <a:prstGeom prst="roundRect">
            <a:avLst>
              <a:gd name="adj" fmla="val 14000"/>
            </a:avLst>
          </a:prstGeom>
          <a:solidFill>
            <a:srgbClr val="0865A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feature input icon cell 4"/>
          <p:cNvSpPr/>
          <p:nvPr/>
        </p:nvSpPr>
        <p:spPr>
          <a:xfrm>
            <a:off x="1813487" y="4692315"/>
            <a:ext cx="76564" cy="76564"/>
          </a:xfrm>
          <a:prstGeom prst="roundRect">
            <a:avLst>
              <a:gd name="adj" fmla="val 14000"/>
            </a:avLst>
          </a:prstGeom>
          <a:solidFill>
            <a:srgbClr val="74B9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feature input icon cell 5"/>
          <p:cNvSpPr/>
          <p:nvPr/>
        </p:nvSpPr>
        <p:spPr>
          <a:xfrm>
            <a:off x="1920677" y="4692315"/>
            <a:ext cx="76564" cy="76564"/>
          </a:xfrm>
          <a:prstGeom prst="roundRect">
            <a:avLst>
              <a:gd name="adj" fmla="val 14000"/>
            </a:avLst>
          </a:prstGeom>
          <a:solidFill>
            <a:srgbClr val="2683B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feature input icon cell 6"/>
          <p:cNvSpPr/>
          <p:nvPr/>
        </p:nvSpPr>
        <p:spPr>
          <a:xfrm>
            <a:off x="1706296" y="4799506"/>
            <a:ext cx="76564" cy="76564"/>
          </a:xfrm>
          <a:prstGeom prst="roundRect">
            <a:avLst>
              <a:gd name="adj" fmla="val 14000"/>
            </a:avLst>
          </a:prstGeom>
          <a:solidFill>
            <a:srgbClr val="A7D4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feature input icon cell 7"/>
          <p:cNvSpPr/>
          <p:nvPr/>
        </p:nvSpPr>
        <p:spPr>
          <a:xfrm>
            <a:off x="1813487" y="4799506"/>
            <a:ext cx="76564" cy="76564"/>
          </a:xfrm>
          <a:prstGeom prst="roundRect">
            <a:avLst>
              <a:gd name="adj" fmla="val 14000"/>
            </a:avLst>
          </a:prstGeom>
          <a:solidFill>
            <a:srgbClr val="0865A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feature input icon cell 8"/>
          <p:cNvSpPr/>
          <p:nvPr/>
        </p:nvSpPr>
        <p:spPr>
          <a:xfrm>
            <a:off x="1920677" y="4799506"/>
            <a:ext cx="76564" cy="76564"/>
          </a:xfrm>
          <a:prstGeom prst="roundRect">
            <a:avLst>
              <a:gd name="adj" fmla="val 14000"/>
            </a:avLst>
          </a:prstGeom>
          <a:solidFill>
            <a:srgbClr val="74B9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feature output icon cell 0"/>
          <p:cNvSpPr/>
          <p:nvPr/>
        </p:nvSpPr>
        <p:spPr>
          <a:xfrm>
            <a:off x="9187751" y="4585125"/>
            <a:ext cx="76564" cy="76564"/>
          </a:xfrm>
          <a:prstGeom prst="roundRect">
            <a:avLst>
              <a:gd name="adj" fmla="val 14000"/>
            </a:avLst>
          </a:prstGeom>
          <a:solidFill>
            <a:srgbClr val="74B9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feature output icon cell 1"/>
          <p:cNvSpPr/>
          <p:nvPr/>
        </p:nvSpPr>
        <p:spPr>
          <a:xfrm>
            <a:off x="9294941" y="4585125"/>
            <a:ext cx="76564" cy="76564"/>
          </a:xfrm>
          <a:prstGeom prst="roundRect">
            <a:avLst>
              <a:gd name="adj" fmla="val 14000"/>
            </a:avLst>
          </a:prstGeom>
          <a:solidFill>
            <a:srgbClr val="2683B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feature output icon cell 2"/>
          <p:cNvSpPr/>
          <p:nvPr/>
        </p:nvSpPr>
        <p:spPr>
          <a:xfrm>
            <a:off x="9402132" y="4585125"/>
            <a:ext cx="76564" cy="76564"/>
          </a:xfrm>
          <a:prstGeom prst="roundRect">
            <a:avLst>
              <a:gd name="adj" fmla="val 14000"/>
            </a:avLst>
          </a:prstGeom>
          <a:solidFill>
            <a:srgbClr val="A7D4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feature output icon cell 3"/>
          <p:cNvSpPr/>
          <p:nvPr/>
        </p:nvSpPr>
        <p:spPr>
          <a:xfrm>
            <a:off x="9187751" y="4692315"/>
            <a:ext cx="76564" cy="76564"/>
          </a:xfrm>
          <a:prstGeom prst="roundRect">
            <a:avLst>
              <a:gd name="adj" fmla="val 14000"/>
            </a:avLst>
          </a:prstGeom>
          <a:solidFill>
            <a:srgbClr val="0865A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feature output icon cell 4"/>
          <p:cNvSpPr/>
          <p:nvPr/>
        </p:nvSpPr>
        <p:spPr>
          <a:xfrm>
            <a:off x="9294941" y="4692315"/>
            <a:ext cx="76564" cy="76564"/>
          </a:xfrm>
          <a:prstGeom prst="roundRect">
            <a:avLst>
              <a:gd name="adj" fmla="val 14000"/>
            </a:avLst>
          </a:prstGeom>
          <a:solidFill>
            <a:srgbClr val="74B9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feature output icon cell 5"/>
          <p:cNvSpPr/>
          <p:nvPr/>
        </p:nvSpPr>
        <p:spPr>
          <a:xfrm>
            <a:off x="9402132" y="4692315"/>
            <a:ext cx="76564" cy="76564"/>
          </a:xfrm>
          <a:prstGeom prst="roundRect">
            <a:avLst>
              <a:gd name="adj" fmla="val 14000"/>
            </a:avLst>
          </a:prstGeom>
          <a:solidFill>
            <a:srgbClr val="2683B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feature output icon cell 6"/>
          <p:cNvSpPr/>
          <p:nvPr/>
        </p:nvSpPr>
        <p:spPr>
          <a:xfrm>
            <a:off x="9187751" y="4799506"/>
            <a:ext cx="76564" cy="76564"/>
          </a:xfrm>
          <a:prstGeom prst="roundRect">
            <a:avLst>
              <a:gd name="adj" fmla="val 14000"/>
            </a:avLst>
          </a:prstGeom>
          <a:solidFill>
            <a:srgbClr val="A7D4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feature output icon cell 7"/>
          <p:cNvSpPr/>
          <p:nvPr/>
        </p:nvSpPr>
        <p:spPr>
          <a:xfrm>
            <a:off x="9294941" y="4799506"/>
            <a:ext cx="76564" cy="76564"/>
          </a:xfrm>
          <a:prstGeom prst="roundRect">
            <a:avLst>
              <a:gd name="adj" fmla="val 14000"/>
            </a:avLst>
          </a:prstGeom>
          <a:solidFill>
            <a:srgbClr val="0865A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feature output icon cell 8"/>
          <p:cNvSpPr/>
          <p:nvPr/>
        </p:nvSpPr>
        <p:spPr>
          <a:xfrm>
            <a:off x="9402132" y="4799506"/>
            <a:ext cx="76564" cy="76564"/>
          </a:xfrm>
          <a:prstGeom prst="roundRect">
            <a:avLst>
              <a:gd name="adj" fmla="val 14000"/>
            </a:avLst>
          </a:prstGeom>
          <a:solidFill>
            <a:srgbClr val="74B9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feature input label"/>
          <p:cNvSpPr txBox="1"/>
          <p:nvPr/>
        </p:nvSpPr>
        <p:spPr>
          <a:xfrm>
            <a:off x="2100057" y="4488872"/>
            <a:ext cx="1093779" cy="437511"/>
          </a:xfrm>
          <a:prstGeom prst="rect">
            <a:avLst/>
          </a:prstGeom>
          <a:noFill/>
        </p:spPr>
        <p:txBody>
          <a:bodyPr wrap="square" lIns="0" rIns="0" tIns="0" bIns="0" anchor="ctr">
            <a:spAutoFit/>
          </a:bodyPr>
          <a:lstStyle/>
          <a:p>
            <a:pPr algn="l">
              <a:spcBef>
                <a:spcPts val="0"/>
              </a:spcBef>
              <a:spcAft>
                <a:spcPts val="0"/>
              </a:spcAft>
              <a:defRPr sz="1446" b="1">
                <a:solidFill>
                  <a:srgbClr val="11234B"/>
                </a:solidFill>
                <a:latin typeface="Arial"/>
              </a:defRPr>
            </a:pPr>
            <a:r>
              <a:t>Feature</a:t>
            </a:r>
          </a:p>
        </p:txBody>
      </p:sp>
      <p:sp>
        <p:nvSpPr>
          <p:cNvPr id="76" name="feature output label"/>
          <p:cNvSpPr txBox="1"/>
          <p:nvPr/>
        </p:nvSpPr>
        <p:spPr>
          <a:xfrm>
            <a:off x="9581511" y="4480122"/>
            <a:ext cx="1198782" cy="507513"/>
          </a:xfrm>
          <a:prstGeom prst="rect">
            <a:avLst/>
          </a:prstGeom>
          <a:noFill/>
        </p:spPr>
        <p:txBody>
          <a:bodyPr wrap="square" lIns="0" rIns="0" tIns="0" bIns="0" anchor="ctr">
            <a:spAutoFit/>
          </a:bodyPr>
          <a:lstStyle/>
          <a:p>
            <a:pPr algn="l">
              <a:spcBef>
                <a:spcPts val="0"/>
              </a:spcBef>
              <a:spcAft>
                <a:spcPts val="0"/>
              </a:spcAft>
              <a:defRPr sz="1309" b="1">
                <a:solidFill>
                  <a:srgbClr val="11234B"/>
                </a:solidFill>
                <a:latin typeface="Arial"/>
              </a:defRPr>
            </a:pPr>
            <a:r>
              <a:t>Reconstructed</a:t>
            </a:r>
          </a:p>
          <a:p>
            <a:pPr algn="l">
              <a:spcBef>
                <a:spcPts val="0"/>
              </a:spcBef>
              <a:spcAft>
                <a:spcPts val="0"/>
              </a:spcAft>
              <a:defRPr sz="1309" b="1">
                <a:solidFill>
                  <a:srgbClr val="11234B"/>
                </a:solidFill>
                <a:latin typeface="Arial"/>
              </a:defRPr>
            </a:pPr>
            <a:r>
              <a:t>Feature</a:t>
            </a:r>
          </a:p>
        </p:txBody>
      </p:sp>
      <p:sp>
        <p:nvSpPr>
          <p:cNvPr id="77" name="feature pre-process"/>
          <p:cNvSpPr/>
          <p:nvPr/>
        </p:nvSpPr>
        <p:spPr>
          <a:xfrm>
            <a:off x="3631349" y="4436371"/>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feature post-process"/>
          <p:cNvSpPr/>
          <p:nvPr/>
        </p:nvSpPr>
        <p:spPr>
          <a:xfrm>
            <a:off x="7743961" y="4436371"/>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feature pre label"/>
          <p:cNvSpPr txBox="1"/>
          <p:nvPr/>
        </p:nvSpPr>
        <p:spPr>
          <a:xfrm>
            <a:off x="3631349" y="4436371"/>
            <a:ext cx="962526" cy="612516"/>
          </a:xfrm>
          <a:prstGeom prst="rect">
            <a:avLst/>
          </a:prstGeom>
          <a:noFill/>
        </p:spPr>
        <p:txBody>
          <a:bodyPr wrap="square" lIns="0" rIns="0" tIns="0" bIns="0" anchor="ctr">
            <a:spAutoFit/>
          </a:bodyPr>
          <a:lstStyle/>
          <a:p>
            <a:pPr algn="ctr">
              <a:spcBef>
                <a:spcPts val="0"/>
              </a:spcBef>
              <a:spcAft>
                <a:spcPts val="0"/>
              </a:spcAft>
              <a:defRPr sz="1446" b="1">
                <a:solidFill>
                  <a:srgbClr val="11234B"/>
                </a:solidFill>
                <a:latin typeface="Arial"/>
              </a:defRPr>
            </a:pPr>
            <a:r>
              <a:t>Pre</a:t>
            </a:r>
          </a:p>
          <a:p>
            <a:pPr algn="ctr">
              <a:spcBef>
                <a:spcPts val="0"/>
              </a:spcBef>
              <a:spcAft>
                <a:spcPts val="0"/>
              </a:spcAft>
              <a:defRPr sz="1446" b="1">
                <a:solidFill>
                  <a:srgbClr val="11234B"/>
                </a:solidFill>
                <a:latin typeface="Arial"/>
              </a:defRPr>
            </a:pPr>
            <a:r>
              <a:t>Process</a:t>
            </a:r>
          </a:p>
        </p:txBody>
      </p:sp>
      <p:sp>
        <p:nvSpPr>
          <p:cNvPr id="80" name="feature post label"/>
          <p:cNvSpPr txBox="1"/>
          <p:nvPr/>
        </p:nvSpPr>
        <p:spPr>
          <a:xfrm>
            <a:off x="7743961" y="4436371"/>
            <a:ext cx="962526" cy="612516"/>
          </a:xfrm>
          <a:prstGeom prst="rect">
            <a:avLst/>
          </a:prstGeom>
          <a:noFill/>
        </p:spPr>
        <p:txBody>
          <a:bodyPr wrap="square" lIns="0" rIns="0" tIns="0" bIns="0" anchor="ctr">
            <a:spAutoFit/>
          </a:bodyPr>
          <a:lstStyle/>
          <a:p>
            <a:pPr algn="ctr">
              <a:spcBef>
                <a:spcPts val="0"/>
              </a:spcBef>
              <a:spcAft>
                <a:spcPts val="0"/>
              </a:spcAft>
              <a:defRPr sz="1446" b="1">
                <a:solidFill>
                  <a:srgbClr val="11234B"/>
                </a:solidFill>
                <a:latin typeface="Arial"/>
              </a:defRPr>
            </a:pPr>
            <a:r>
              <a:t>Post</a:t>
            </a:r>
          </a:p>
          <a:p>
            <a:pPr algn="ctr">
              <a:spcBef>
                <a:spcPts val="0"/>
              </a:spcBef>
              <a:spcAft>
                <a:spcPts val="0"/>
              </a:spcAft>
              <a:defRPr sz="1446" b="1">
                <a:solidFill>
                  <a:srgbClr val="11234B"/>
                </a:solidFill>
                <a:latin typeface="Arial"/>
              </a:defRPr>
            </a:pPr>
            <a:r>
              <a:t>Process</a:t>
            </a:r>
          </a:p>
        </p:txBody>
      </p:sp>
      <p:cxnSp>
        <p:nvCxnSpPr>
          <p:cNvPr id="81" name="feature input to preparation"/>
          <p:cNvCxnSpPr>
            <a:stCxn id="46" idx="3"/>
            <a:endCxn id="77" idx="1"/>
          </p:cNvCxnSpPr>
          <p:nvPr/>
        </p:nvCxnSpPr>
        <p:spPr>
          <a:xfrm>
            <a:off x="3150085" y="4742629"/>
            <a:ext cx="48126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2" name="feature preparation to encoder"/>
          <p:cNvCxnSpPr>
            <a:stCxn id="77" idx="3"/>
            <a:endCxn id="47" idx="1"/>
          </p:cNvCxnSpPr>
          <p:nvPr/>
        </p:nvCxnSpPr>
        <p:spPr>
          <a:xfrm>
            <a:off x="4593875" y="4742629"/>
            <a:ext cx="218756"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3" name="feature decoder to postprocessing"/>
          <p:cNvCxnSpPr>
            <a:stCxn id="48" idx="3"/>
            <a:endCxn id="78" idx="1"/>
          </p:cNvCxnSpPr>
          <p:nvPr/>
        </p:nvCxnSpPr>
        <p:spPr>
          <a:xfrm>
            <a:off x="7612707" y="4742629"/>
            <a:ext cx="13125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4" name="feature postprocessing to output"/>
          <p:cNvCxnSpPr>
            <a:stCxn id="78" idx="3"/>
            <a:endCxn id="49" idx="1"/>
          </p:cNvCxnSpPr>
          <p:nvPr/>
        </p:nvCxnSpPr>
        <p:spPr>
          <a:xfrm>
            <a:off x="8706487" y="4742629"/>
            <a:ext cx="306259"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5" name="feature context to feature pre-process"/>
          <p:cNvCxnSpPr/>
          <p:nvPr/>
        </p:nvCxnSpPr>
        <p:spPr>
          <a:xfrm>
            <a:off x="4112612" y="3570097"/>
            <a:ext cx="0" cy="236257"/>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6" name="feature context to feature encoder"/>
          <p:cNvCxnSpPr/>
          <p:nvPr/>
        </p:nvCxnSpPr>
        <p:spPr>
          <a:xfrm>
            <a:off x="5293894" y="3570097"/>
            <a:ext cx="0" cy="236257"/>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7" name="feature context to feature decoder"/>
          <p:cNvCxnSpPr/>
          <p:nvPr/>
        </p:nvCxnSpPr>
        <p:spPr>
          <a:xfrm>
            <a:off x="7131444" y="3570097"/>
            <a:ext cx="0" cy="236257"/>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8" name="feature context to feature post-process"/>
          <p:cNvCxnSpPr/>
          <p:nvPr/>
        </p:nvCxnSpPr>
        <p:spPr>
          <a:xfrm>
            <a:off x="8225224" y="3570097"/>
            <a:ext cx="0" cy="236257"/>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9" name="feature encoder to stream"/>
          <p:cNvCxnSpPr>
            <a:stCxn id="47" idx="3"/>
          </p:cNvCxnSpPr>
          <p:nvPr/>
        </p:nvCxnSpPr>
        <p:spPr>
          <a:xfrm>
            <a:off x="5775157" y="4742629"/>
            <a:ext cx="280008"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90" name="feature stream to decoder"/>
          <p:cNvCxnSpPr>
            <a:endCxn id="48" idx="1"/>
          </p:cNvCxnSpPr>
          <p:nvPr/>
        </p:nvCxnSpPr>
        <p:spPr>
          <a:xfrm>
            <a:off x="6230170" y="4742629"/>
            <a:ext cx="420011"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image representation"/>
          <p:cNvSpPr/>
          <p:nvPr/>
        </p:nvSpPr>
        <p:spPr>
          <a:xfrm>
            <a:off x="1443789" y="7131444"/>
            <a:ext cx="170629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image encoder"/>
          <p:cNvSpPr/>
          <p:nvPr/>
        </p:nvSpPr>
        <p:spPr>
          <a:xfrm>
            <a:off x="4812631" y="7131444"/>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image decoder"/>
          <p:cNvSpPr/>
          <p:nvPr/>
        </p:nvSpPr>
        <p:spPr>
          <a:xfrm>
            <a:off x="6650181" y="7131444"/>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image reconstructed output"/>
          <p:cNvSpPr/>
          <p:nvPr/>
        </p:nvSpPr>
        <p:spPr>
          <a:xfrm>
            <a:off x="9012746" y="7131444"/>
            <a:ext cx="1793799"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image enc label"/>
          <p:cNvSpPr txBox="1"/>
          <p:nvPr/>
        </p:nvSpPr>
        <p:spPr>
          <a:xfrm>
            <a:off x="4812631" y="7131444"/>
            <a:ext cx="962526" cy="612516"/>
          </a:xfrm>
          <a:prstGeom prst="rect">
            <a:avLst/>
          </a:prstGeom>
          <a:noFill/>
        </p:spPr>
        <p:txBody>
          <a:bodyPr wrap="square" lIns="0" rIns="0" tIns="0" bIns="0" anchor="ctr">
            <a:spAutoFit/>
          </a:bodyPr>
          <a:lstStyle/>
          <a:p>
            <a:pPr algn="ctr">
              <a:spcBef>
                <a:spcPts val="0"/>
              </a:spcBef>
              <a:spcAft>
                <a:spcPts val="0"/>
              </a:spcAft>
              <a:defRPr sz="1515" b="1">
                <a:solidFill>
                  <a:srgbClr val="11234B"/>
                </a:solidFill>
                <a:latin typeface="Arial"/>
              </a:defRPr>
            </a:pPr>
            <a:r>
              <a:t>Enc</a:t>
            </a:r>
          </a:p>
        </p:txBody>
      </p:sp>
      <p:sp>
        <p:nvSpPr>
          <p:cNvPr id="96" name="image dec label"/>
          <p:cNvSpPr txBox="1"/>
          <p:nvPr/>
        </p:nvSpPr>
        <p:spPr>
          <a:xfrm>
            <a:off x="6650181" y="7131444"/>
            <a:ext cx="962526" cy="612516"/>
          </a:xfrm>
          <a:prstGeom prst="rect">
            <a:avLst/>
          </a:prstGeom>
          <a:noFill/>
        </p:spPr>
        <p:txBody>
          <a:bodyPr wrap="square" lIns="0" rIns="0" tIns="0" bIns="0" anchor="ctr">
            <a:spAutoFit/>
          </a:bodyPr>
          <a:lstStyle/>
          <a:p>
            <a:pPr algn="ctr">
              <a:spcBef>
                <a:spcPts val="0"/>
              </a:spcBef>
              <a:spcAft>
                <a:spcPts val="0"/>
              </a:spcAft>
              <a:defRPr sz="1515" b="1">
                <a:solidFill>
                  <a:srgbClr val="11234B"/>
                </a:solidFill>
                <a:latin typeface="Arial"/>
              </a:defRPr>
            </a:pPr>
            <a:r>
              <a:t>Dec</a:t>
            </a:r>
          </a:p>
        </p:txBody>
      </p:sp>
      <p:sp>
        <p:nvSpPr>
          <p:cNvPr id="97" name="image bitstream0"/>
          <p:cNvSpPr/>
          <p:nvPr/>
        </p:nvSpPr>
        <p:spPr>
          <a:xfrm>
            <a:off x="6055165" y="7087693"/>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image bitstream1"/>
          <p:cNvSpPr/>
          <p:nvPr/>
        </p:nvSpPr>
        <p:spPr>
          <a:xfrm>
            <a:off x="6055165" y="7227697"/>
            <a:ext cx="175004" cy="140003"/>
          </a:xfrm>
          <a:prstGeom prst="rect">
            <a:avLst/>
          </a:prstGeom>
          <a:solidFill>
            <a:srgbClr val="FFFFFF"/>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image bitstream2"/>
          <p:cNvSpPr/>
          <p:nvPr/>
        </p:nvSpPr>
        <p:spPr>
          <a:xfrm>
            <a:off x="6055165" y="7367701"/>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image bitstream3"/>
          <p:cNvSpPr/>
          <p:nvPr/>
        </p:nvSpPr>
        <p:spPr>
          <a:xfrm>
            <a:off x="6055165" y="7507705"/>
            <a:ext cx="175004" cy="140003"/>
          </a:xfrm>
          <a:prstGeom prst="rect">
            <a:avLst/>
          </a:prstGeom>
          <a:solidFill>
            <a:srgbClr val="FFFFFF"/>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image bitstream4"/>
          <p:cNvSpPr/>
          <p:nvPr/>
        </p:nvSpPr>
        <p:spPr>
          <a:xfrm>
            <a:off x="6055165" y="7647709"/>
            <a:ext cx="175004" cy="140003"/>
          </a:xfrm>
          <a:prstGeom prst="rect">
            <a:avLst/>
          </a:prstGeom>
          <a:solidFill>
            <a:srgbClr val="000000"/>
          </a:solidFill>
          <a:ln w="1016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image input iconframe"/>
          <p:cNvSpPr/>
          <p:nvPr/>
        </p:nvSpPr>
        <p:spPr>
          <a:xfrm>
            <a:off x="1706296" y="7280199"/>
            <a:ext cx="306258" cy="306258"/>
          </a:xfrm>
          <a:prstGeom prst="roundRect">
            <a:avLst>
              <a:gd name="adj" fmla="val 14000"/>
            </a:avLst>
          </a:prstGeom>
          <a:noFill/>
          <a:ln w="2159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3" name="image input iconmountain-0"/>
          <p:cNvCxnSpPr/>
          <p:nvPr/>
        </p:nvCxnSpPr>
        <p:spPr>
          <a:xfrm flipV="1">
            <a:off x="1746110" y="7424140"/>
            <a:ext cx="91877" cy="107190"/>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04" name="image input iconmountain-1"/>
          <p:cNvCxnSpPr/>
          <p:nvPr/>
        </p:nvCxnSpPr>
        <p:spPr>
          <a:xfrm>
            <a:off x="1837987" y="7424140"/>
            <a:ext cx="52064" cy="58189"/>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05" name="image input iconmountain-2"/>
          <p:cNvCxnSpPr/>
          <p:nvPr/>
        </p:nvCxnSpPr>
        <p:spPr>
          <a:xfrm flipV="1">
            <a:off x="1890051" y="7418015"/>
            <a:ext cx="45939" cy="64314"/>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06" name="image input iconmountain-3"/>
          <p:cNvCxnSpPr/>
          <p:nvPr/>
        </p:nvCxnSpPr>
        <p:spPr>
          <a:xfrm>
            <a:off x="1935990" y="7418015"/>
            <a:ext cx="45939" cy="113315"/>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sp>
        <p:nvSpPr>
          <p:cNvPr id="107" name="image input iconsun"/>
          <p:cNvSpPr/>
          <p:nvPr/>
        </p:nvSpPr>
        <p:spPr>
          <a:xfrm>
            <a:off x="1758360" y="7341450"/>
            <a:ext cx="36751" cy="36751"/>
          </a:xfrm>
          <a:prstGeom prst="ellipse">
            <a:avLst/>
          </a:prstGeom>
          <a:no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image output iconframe"/>
          <p:cNvSpPr/>
          <p:nvPr/>
        </p:nvSpPr>
        <p:spPr>
          <a:xfrm>
            <a:off x="9187751" y="7280199"/>
            <a:ext cx="306258" cy="306258"/>
          </a:xfrm>
          <a:prstGeom prst="roundRect">
            <a:avLst>
              <a:gd name="adj" fmla="val 14000"/>
            </a:avLst>
          </a:prstGeom>
          <a:noFill/>
          <a:ln w="2159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9" name="image output iconmountain-0"/>
          <p:cNvCxnSpPr/>
          <p:nvPr/>
        </p:nvCxnSpPr>
        <p:spPr>
          <a:xfrm flipV="1">
            <a:off x="9227564" y="7424140"/>
            <a:ext cx="91878" cy="107190"/>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10" name="image output iconmountain-1"/>
          <p:cNvCxnSpPr/>
          <p:nvPr/>
        </p:nvCxnSpPr>
        <p:spPr>
          <a:xfrm>
            <a:off x="9319442" y="7424140"/>
            <a:ext cx="52064" cy="58189"/>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11" name="image output iconmountain-2"/>
          <p:cNvCxnSpPr/>
          <p:nvPr/>
        </p:nvCxnSpPr>
        <p:spPr>
          <a:xfrm flipV="1">
            <a:off x="9371506" y="7418015"/>
            <a:ext cx="45938" cy="64314"/>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12" name="image output iconmountain-3"/>
          <p:cNvCxnSpPr/>
          <p:nvPr/>
        </p:nvCxnSpPr>
        <p:spPr>
          <a:xfrm>
            <a:off x="9417444" y="7418015"/>
            <a:ext cx="45939" cy="113315"/>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sp>
        <p:nvSpPr>
          <p:cNvPr id="113" name="image output iconsun"/>
          <p:cNvSpPr/>
          <p:nvPr/>
        </p:nvSpPr>
        <p:spPr>
          <a:xfrm>
            <a:off x="9239815" y="7341450"/>
            <a:ext cx="36751" cy="36751"/>
          </a:xfrm>
          <a:prstGeom prst="ellipse">
            <a:avLst/>
          </a:prstGeom>
          <a:no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image input label"/>
          <p:cNvSpPr txBox="1"/>
          <p:nvPr/>
        </p:nvSpPr>
        <p:spPr>
          <a:xfrm>
            <a:off x="2100057" y="7183946"/>
            <a:ext cx="1093779" cy="437511"/>
          </a:xfrm>
          <a:prstGeom prst="rect">
            <a:avLst/>
          </a:prstGeom>
          <a:noFill/>
        </p:spPr>
        <p:txBody>
          <a:bodyPr wrap="square" lIns="0" rIns="0" tIns="0" bIns="0" anchor="ctr">
            <a:spAutoFit/>
          </a:bodyPr>
          <a:lstStyle/>
          <a:p>
            <a:pPr algn="l">
              <a:spcBef>
                <a:spcPts val="0"/>
              </a:spcBef>
              <a:spcAft>
                <a:spcPts val="0"/>
              </a:spcAft>
              <a:defRPr sz="1446" b="1">
                <a:solidFill>
                  <a:srgbClr val="11234B"/>
                </a:solidFill>
                <a:latin typeface="Arial"/>
              </a:defRPr>
            </a:pPr>
            <a:r>
              <a:t>Image</a:t>
            </a:r>
          </a:p>
        </p:txBody>
      </p:sp>
      <p:sp>
        <p:nvSpPr>
          <p:cNvPr id="115" name="image output label"/>
          <p:cNvSpPr txBox="1"/>
          <p:nvPr/>
        </p:nvSpPr>
        <p:spPr>
          <a:xfrm>
            <a:off x="9581511" y="7175196"/>
            <a:ext cx="1198782" cy="507513"/>
          </a:xfrm>
          <a:prstGeom prst="rect">
            <a:avLst/>
          </a:prstGeom>
          <a:noFill/>
        </p:spPr>
        <p:txBody>
          <a:bodyPr wrap="square" lIns="0" rIns="0" tIns="0" bIns="0" anchor="ctr">
            <a:spAutoFit/>
          </a:bodyPr>
          <a:lstStyle/>
          <a:p>
            <a:pPr algn="l">
              <a:spcBef>
                <a:spcPts val="0"/>
              </a:spcBef>
              <a:spcAft>
                <a:spcPts val="0"/>
              </a:spcAft>
              <a:defRPr sz="1309" b="1">
                <a:solidFill>
                  <a:srgbClr val="11234B"/>
                </a:solidFill>
                <a:latin typeface="Arial"/>
              </a:defRPr>
            </a:pPr>
            <a:r>
              <a:t>Reconstructed</a:t>
            </a:r>
          </a:p>
          <a:p>
            <a:pPr algn="l">
              <a:spcBef>
                <a:spcPts val="0"/>
              </a:spcBef>
              <a:spcAft>
                <a:spcPts val="0"/>
              </a:spcAft>
              <a:defRPr sz="1309" b="1">
                <a:solidFill>
                  <a:srgbClr val="11234B"/>
                </a:solidFill>
                <a:latin typeface="Arial"/>
              </a:defRPr>
            </a:pPr>
            <a:r>
              <a:t>Image</a:t>
            </a:r>
          </a:p>
        </p:txBody>
      </p:sp>
      <p:sp>
        <p:nvSpPr>
          <p:cNvPr id="116" name="image pre-process"/>
          <p:cNvSpPr/>
          <p:nvPr/>
        </p:nvSpPr>
        <p:spPr>
          <a:xfrm>
            <a:off x="3631349" y="7131444"/>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image post-process"/>
          <p:cNvSpPr/>
          <p:nvPr/>
        </p:nvSpPr>
        <p:spPr>
          <a:xfrm>
            <a:off x="7743961" y="7131444"/>
            <a:ext cx="962526" cy="612516"/>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image pre label"/>
          <p:cNvSpPr txBox="1"/>
          <p:nvPr/>
        </p:nvSpPr>
        <p:spPr>
          <a:xfrm>
            <a:off x="3631349" y="7131444"/>
            <a:ext cx="962526" cy="612516"/>
          </a:xfrm>
          <a:prstGeom prst="rect">
            <a:avLst/>
          </a:prstGeom>
          <a:noFill/>
        </p:spPr>
        <p:txBody>
          <a:bodyPr wrap="square" lIns="0" rIns="0" tIns="0" bIns="0" anchor="ctr">
            <a:spAutoFit/>
          </a:bodyPr>
          <a:lstStyle/>
          <a:p>
            <a:pPr algn="ctr">
              <a:spcBef>
                <a:spcPts val="0"/>
              </a:spcBef>
              <a:spcAft>
                <a:spcPts val="0"/>
              </a:spcAft>
              <a:defRPr sz="1446" b="1">
                <a:solidFill>
                  <a:srgbClr val="11234B"/>
                </a:solidFill>
                <a:latin typeface="Arial"/>
              </a:defRPr>
            </a:pPr>
            <a:r>
              <a:t>Pre</a:t>
            </a:r>
          </a:p>
          <a:p>
            <a:pPr algn="ctr">
              <a:spcBef>
                <a:spcPts val="0"/>
              </a:spcBef>
              <a:spcAft>
                <a:spcPts val="0"/>
              </a:spcAft>
              <a:defRPr sz="1446" b="1">
                <a:solidFill>
                  <a:srgbClr val="11234B"/>
                </a:solidFill>
                <a:latin typeface="Arial"/>
              </a:defRPr>
            </a:pPr>
            <a:r>
              <a:t>Process</a:t>
            </a:r>
          </a:p>
        </p:txBody>
      </p:sp>
      <p:sp>
        <p:nvSpPr>
          <p:cNvPr id="119" name="image post label"/>
          <p:cNvSpPr txBox="1"/>
          <p:nvPr/>
        </p:nvSpPr>
        <p:spPr>
          <a:xfrm>
            <a:off x="7743961" y="7131444"/>
            <a:ext cx="962526" cy="612516"/>
          </a:xfrm>
          <a:prstGeom prst="rect">
            <a:avLst/>
          </a:prstGeom>
          <a:noFill/>
        </p:spPr>
        <p:txBody>
          <a:bodyPr wrap="square" lIns="0" rIns="0" tIns="0" bIns="0" anchor="ctr">
            <a:spAutoFit/>
          </a:bodyPr>
          <a:lstStyle/>
          <a:p>
            <a:pPr algn="ctr">
              <a:spcBef>
                <a:spcPts val="0"/>
              </a:spcBef>
              <a:spcAft>
                <a:spcPts val="0"/>
              </a:spcAft>
              <a:defRPr sz="1446" b="1">
                <a:solidFill>
                  <a:srgbClr val="11234B"/>
                </a:solidFill>
                <a:latin typeface="Arial"/>
              </a:defRPr>
            </a:pPr>
            <a:r>
              <a:t>Post</a:t>
            </a:r>
          </a:p>
          <a:p>
            <a:pPr algn="ctr">
              <a:spcBef>
                <a:spcPts val="0"/>
              </a:spcBef>
              <a:spcAft>
                <a:spcPts val="0"/>
              </a:spcAft>
              <a:defRPr sz="1446" b="1">
                <a:solidFill>
                  <a:srgbClr val="11234B"/>
                </a:solidFill>
                <a:latin typeface="Arial"/>
              </a:defRPr>
            </a:pPr>
            <a:r>
              <a:t>Process</a:t>
            </a:r>
          </a:p>
        </p:txBody>
      </p:sp>
      <p:cxnSp>
        <p:nvCxnSpPr>
          <p:cNvPr id="120" name="image input to preparation"/>
          <p:cNvCxnSpPr>
            <a:stCxn id="91" idx="3"/>
            <a:endCxn id="116" idx="1"/>
          </p:cNvCxnSpPr>
          <p:nvPr/>
        </p:nvCxnSpPr>
        <p:spPr>
          <a:xfrm>
            <a:off x="3150085" y="7437702"/>
            <a:ext cx="48126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1" name="image preparation to encoder"/>
          <p:cNvCxnSpPr>
            <a:stCxn id="116" idx="3"/>
            <a:endCxn id="92" idx="1"/>
          </p:cNvCxnSpPr>
          <p:nvPr/>
        </p:nvCxnSpPr>
        <p:spPr>
          <a:xfrm>
            <a:off x="4593875" y="7437702"/>
            <a:ext cx="218756"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2" name="image decoder to postprocessing"/>
          <p:cNvCxnSpPr>
            <a:stCxn id="93" idx="3"/>
            <a:endCxn id="117" idx="1"/>
          </p:cNvCxnSpPr>
          <p:nvPr/>
        </p:nvCxnSpPr>
        <p:spPr>
          <a:xfrm>
            <a:off x="7612707" y="7437702"/>
            <a:ext cx="13125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3" name="image postprocessing to output"/>
          <p:cNvCxnSpPr>
            <a:stCxn id="117" idx="3"/>
            <a:endCxn id="94" idx="1"/>
          </p:cNvCxnSpPr>
          <p:nvPr/>
        </p:nvCxnSpPr>
        <p:spPr>
          <a:xfrm>
            <a:off x="8706487" y="7437702"/>
            <a:ext cx="306259"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4" name="image context to image pre-process"/>
          <p:cNvCxnSpPr/>
          <p:nvPr/>
        </p:nvCxnSpPr>
        <p:spPr>
          <a:xfrm>
            <a:off x="4112612" y="6483927"/>
            <a:ext cx="0" cy="201255"/>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5" name="image context to image encoder"/>
          <p:cNvCxnSpPr/>
          <p:nvPr/>
        </p:nvCxnSpPr>
        <p:spPr>
          <a:xfrm>
            <a:off x="5293894" y="6483927"/>
            <a:ext cx="0" cy="201255"/>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6" name="image context to image decoder"/>
          <p:cNvCxnSpPr/>
          <p:nvPr/>
        </p:nvCxnSpPr>
        <p:spPr>
          <a:xfrm>
            <a:off x="7131444" y="6483927"/>
            <a:ext cx="0" cy="201255"/>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7" name="image context to image post-process"/>
          <p:cNvCxnSpPr/>
          <p:nvPr/>
        </p:nvCxnSpPr>
        <p:spPr>
          <a:xfrm>
            <a:off x="8225224" y="6483927"/>
            <a:ext cx="0" cy="201255"/>
          </a:xfrm>
          <a:prstGeom prst="line">
            <a:avLst/>
          </a:prstGeom>
          <a:ln w="1397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8" name="image encoder to stream"/>
          <p:cNvCxnSpPr>
            <a:stCxn id="92" idx="3"/>
          </p:cNvCxnSpPr>
          <p:nvPr/>
        </p:nvCxnSpPr>
        <p:spPr>
          <a:xfrm>
            <a:off x="5775157" y="7437702"/>
            <a:ext cx="280008" cy="1"/>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9" name="image stream to decoder"/>
          <p:cNvCxnSpPr>
            <a:endCxn id="93" idx="1"/>
          </p:cNvCxnSpPr>
          <p:nvPr/>
        </p:nvCxnSpPr>
        <p:spPr>
          <a:xfrm flipV="1">
            <a:off x="6230170" y="7437702"/>
            <a:ext cx="420011" cy="1"/>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0" name="Foundation-model examples"/>
          <p:cNvSpPr txBox="1"/>
          <p:nvPr/>
        </p:nvSpPr>
        <p:spPr>
          <a:xfrm>
            <a:off x="1443789" y="4147613"/>
            <a:ext cx="3500095" cy="245006"/>
          </a:xfrm>
          <a:prstGeom prst="rect">
            <a:avLst/>
          </a:prstGeom>
          <a:noFill/>
        </p:spPr>
        <p:txBody>
          <a:bodyPr wrap="square" lIns="0" rIns="0" tIns="0" bIns="0" anchor="ctr">
            <a:spAutoFit/>
          </a:bodyPr>
          <a:lstStyle/>
          <a:p>
            <a:pPr algn="l">
              <a:spcBef>
                <a:spcPts val="0"/>
              </a:spcBef>
              <a:spcAft>
                <a:spcPts val="0"/>
              </a:spcAft>
              <a:defRPr sz="1377" b="0">
                <a:solidFill>
                  <a:srgbClr val="11234B"/>
                </a:solidFill>
                <a:latin typeface="Arial"/>
              </a:defRPr>
            </a:pPr>
            <a:r>
              <a:t>CLIP · SAM · DINO</a:t>
            </a:r>
          </a:p>
        </p:txBody>
      </p:sp>
      <p:sp>
        <p:nvSpPr>
          <p:cNvPr id="131" name="Image-video input"/>
          <p:cNvSpPr/>
          <p:nvPr/>
        </p:nvSpPr>
        <p:spPr>
          <a:xfrm>
            <a:off x="131253" y="3876355"/>
            <a:ext cx="656267" cy="805022"/>
          </a:xfrm>
          <a:prstGeom prst="roundRect">
            <a:avLst>
              <a:gd name="adj" fmla="val 14000"/>
            </a:avLst>
          </a:prstGeom>
          <a:solidFill>
            <a:srgbClr val="FFFFFF"/>
          </a:solid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Input image iconframe"/>
          <p:cNvSpPr/>
          <p:nvPr/>
        </p:nvSpPr>
        <p:spPr>
          <a:xfrm>
            <a:off x="297508" y="3998859"/>
            <a:ext cx="323758" cy="323758"/>
          </a:xfrm>
          <a:prstGeom prst="roundRect">
            <a:avLst>
              <a:gd name="adj" fmla="val 14000"/>
            </a:avLst>
          </a:prstGeom>
          <a:noFill/>
          <a:ln w="2159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3" name="Input image iconmountain-0"/>
          <p:cNvCxnSpPr/>
          <p:nvPr/>
        </p:nvCxnSpPr>
        <p:spPr>
          <a:xfrm flipV="1">
            <a:off x="339596" y="4151025"/>
            <a:ext cx="97128" cy="113316"/>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34" name="Input image iconmountain-1"/>
          <p:cNvCxnSpPr/>
          <p:nvPr/>
        </p:nvCxnSpPr>
        <p:spPr>
          <a:xfrm>
            <a:off x="436724" y="4151025"/>
            <a:ext cx="55039" cy="61515"/>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35" name="Input image iconmountain-2"/>
          <p:cNvCxnSpPr/>
          <p:nvPr/>
        </p:nvCxnSpPr>
        <p:spPr>
          <a:xfrm flipV="1">
            <a:off x="491763" y="4144550"/>
            <a:ext cx="48564" cy="67990"/>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36" name="Input image iconmountain-3"/>
          <p:cNvCxnSpPr/>
          <p:nvPr/>
        </p:nvCxnSpPr>
        <p:spPr>
          <a:xfrm>
            <a:off x="540327" y="4144550"/>
            <a:ext cx="48564" cy="119791"/>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sp>
        <p:nvSpPr>
          <p:cNvPr id="137" name="Input image iconsun"/>
          <p:cNvSpPr/>
          <p:nvPr/>
        </p:nvSpPr>
        <p:spPr>
          <a:xfrm>
            <a:off x="352547" y="4063611"/>
            <a:ext cx="38851" cy="38851"/>
          </a:xfrm>
          <a:prstGeom prst="ellipse">
            <a:avLst/>
          </a:prstGeom>
          <a:no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Input symbol"/>
          <p:cNvSpPr txBox="1"/>
          <p:nvPr/>
        </p:nvSpPr>
        <p:spPr>
          <a:xfrm>
            <a:off x="148754" y="4322618"/>
            <a:ext cx="612516" cy="297508"/>
          </a:xfrm>
          <a:prstGeom prst="rect">
            <a:avLst/>
          </a:prstGeom>
          <a:noFill/>
        </p:spPr>
        <p:txBody>
          <a:bodyPr wrap="square" lIns="0" rIns="0" tIns="0" bIns="0" anchor="ctr">
            <a:spAutoFit/>
          </a:bodyPr>
          <a:lstStyle/>
          <a:p>
            <a:pPr algn="ctr">
              <a:spcBef>
                <a:spcPts val="0"/>
              </a:spcBef>
              <a:spcAft>
                <a:spcPts val="0"/>
              </a:spcAft>
              <a:defRPr sz="1722" b="0">
                <a:solidFill>
                  <a:srgbClr val="11234B"/>
                </a:solidFill>
                <a:latin typeface="Arial"/>
              </a:defRPr>
            </a:pPr>
            <a:r>
              <a:rPr sz="1860" i="1">
                <a:solidFill>
                  <a:srgbClr val="11234B"/>
                </a:solidFill>
                <a:latin typeface="Times New Roman"/>
              </a:rPr>
              <a:t>x</a:t>
            </a:r>
            <a:r>
              <a:rPr sz="1240" i="1" baseline="-25000">
                <a:solidFill>
                  <a:srgbClr val="11234B"/>
                </a:solidFill>
                <a:latin typeface="Times New Roman"/>
              </a:rPr>
              <a:t>t</a:t>
            </a:r>
          </a:p>
        </p:txBody>
      </p:sp>
      <p:cxnSp>
        <p:nvCxnSpPr>
          <p:cNvPr id="139" name="Input to fanout"/>
          <p:cNvCxnSpPr/>
          <p:nvPr/>
        </p:nvCxnSpPr>
        <p:spPr>
          <a:xfrm>
            <a:off x="787521" y="4270116"/>
            <a:ext cx="148754" cy="0"/>
          </a:xfrm>
          <a:prstGeom prst="line">
            <a:avLst/>
          </a:prstGeom>
          <a:ln w="1587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40" name="Fanout trunk"/>
          <p:cNvCxnSpPr/>
          <p:nvPr/>
        </p:nvCxnSpPr>
        <p:spPr>
          <a:xfrm>
            <a:off x="936275" y="1820049"/>
            <a:ext cx="0" cy="5617654"/>
          </a:xfrm>
          <a:prstGeom prst="line">
            <a:avLst/>
          </a:prstGeom>
          <a:ln w="1587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41" name="Input fanout to structure"/>
          <p:cNvCxnSpPr/>
          <p:nvPr/>
        </p:nvCxnSpPr>
        <p:spPr>
          <a:xfrm>
            <a:off x="936275" y="1820049"/>
            <a:ext cx="50751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2" name="Input fanout to feature"/>
          <p:cNvCxnSpPr/>
          <p:nvPr/>
        </p:nvCxnSpPr>
        <p:spPr>
          <a:xfrm>
            <a:off x="936275" y="4742629"/>
            <a:ext cx="50751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3" name="Input fanout to image"/>
          <p:cNvCxnSpPr/>
          <p:nvPr/>
        </p:nvCxnSpPr>
        <p:spPr>
          <a:xfrm>
            <a:off x="936275" y="7437703"/>
            <a:ext cx="50751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44" name="Context panel 1"/>
          <p:cNvSpPr/>
          <p:nvPr/>
        </p:nvSpPr>
        <p:spPr>
          <a:xfrm>
            <a:off x="3570097" y="2537569"/>
            <a:ext cx="5600153" cy="1006277"/>
          </a:xfrm>
          <a:gradFill rotWithShape="1">
            <a:gsLst>
              <a:gs pos="0">
                <a:srgbClr val="FFF8E9"/>
              </a:gs>
              <a:gs pos="100000">
                <a:srgbClr val="FFECCB"/>
              </a:gs>
            </a:gsLst>
            <a:lin ang="5400000" scaled="1"/>
          </a:gradFill>
          <a:prstGeom prst="roundRect">
            <a:avLst>
              <a:gd name="adj" fmla="val 9565"/>
            </a:avLst>
          </a:prstGeom>
          <a:ln w="10795">
            <a:solidFill>
              <a:srgbClr val="D68A2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Context icon 1"/>
          <p:cNvSpPr/>
          <p:nvPr/>
        </p:nvSpPr>
        <p:spPr>
          <a:custGeom>
            <a:avLst/>
            <a:gdLst/>
            <a:ahLst/>
            <a:cxnLst/>
            <a:rect l="0" t="0" r="r" b="b"/>
            <a:pathLst>
              <a:path w="1000" h="1000" fill="none" stroke="1" extrusionOk="0">
                <a:moveTo>
                  <a:pt x="70" y="165"/>
                </a:moveTo>
                <a:cubicBezTo>
                  <a:pt x="70" y="25"/>
                  <a:pt x="900" y="25"/>
                  <a:pt x="900" y="165"/>
                </a:cubicBezTo>
                <a:cubicBezTo>
                  <a:pt x="900" y="325"/>
                  <a:pt x="70" y="325"/>
                  <a:pt x="70" y="165"/>
                </a:cubicBezTo>
                <a:lnTo>
                  <a:pt x="70" y="805"/>
                </a:lnTo>
                <a:cubicBezTo>
                  <a:pt x="70" y="980"/>
                  <a:pt x="900" y="980"/>
                  <a:pt x="900" y="805"/>
                </a:cubicBezTo>
                <a:lnTo>
                  <a:pt x="900" y="165"/>
                </a:lnTo>
                <a:moveTo>
                  <a:pt x="70" y="460"/>
                </a:moveTo>
                <a:cubicBezTo>
                  <a:pt x="70" y="620"/>
                  <a:pt x="900" y="620"/>
                  <a:pt x="900" y="460"/>
                </a:cubicBezTo>
                <a:moveTo>
                  <a:pt x="70" y="670"/>
                </a:moveTo>
                <a:cubicBezTo>
                  <a:pt x="70" y="830"/>
                  <a:pt x="900" y="830"/>
                  <a:pt x="900" y="670"/>
                </a:cubicBezTo>
              </a:path>
            </a:pathLst>
          </a:custGeom>
          <a:xfrm>
            <a:off x="5783908" y="2625071"/>
            <a:ext cx="253756" cy="253756"/>
          </a:xfrm>
          <a:noFill/>
          <a:ln w="22860">
            <a:solidFill>
              <a:srgbClr val="AE5B1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Context heading 1"/>
          <p:cNvSpPr txBox="1"/>
          <p:nvPr/>
        </p:nvSpPr>
        <p:spPr>
          <a:xfrm>
            <a:off x="6186419" y="2590070"/>
            <a:ext cx="1400038" cy="350009"/>
          </a:xfrm>
          <a:prstGeom prst="rect">
            <a:avLst/>
          </a:prstGeom>
          <a:noFill/>
        </p:spPr>
        <p:txBody>
          <a:bodyPr wrap="square" lIns="0" rIns="0" tIns="0" bIns="0" anchor="ctr">
            <a:spAutoFit/>
          </a:bodyPr>
          <a:lstStyle/>
          <a:p>
            <a:pPr algn="l">
              <a:spcBef>
                <a:spcPts val="0"/>
              </a:spcBef>
              <a:spcAft>
                <a:spcPts val="0"/>
              </a:spcAft>
              <a:defRPr sz="1860" b="1">
                <a:solidFill>
                  <a:srgbClr val="AE5B12"/>
                </a:solidFill>
                <a:latin typeface="Arial"/>
              </a:defRPr>
            </a:pPr>
            <a:r>
              <a:t>Context</a:t>
            </a:r>
          </a:p>
        </p:txBody>
      </p:sp>
      <p:sp>
        <p:nvSpPr>
          <p:cNvPr id="147" name="Context 1 chip 0"/>
          <p:cNvSpPr/>
          <p:nvPr/>
        </p:nvSpPr>
        <p:spPr>
          <a:xfrm>
            <a:off x="4025110" y="3010082"/>
            <a:ext cx="1137531"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Context 1 chip label 0"/>
          <p:cNvSpPr txBox="1"/>
          <p:nvPr/>
        </p:nvSpPr>
        <p:spPr>
          <a:xfrm>
            <a:off x="4025110" y="3010082"/>
            <a:ext cx="1137531"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Hyperprior</a:t>
            </a:r>
          </a:p>
        </p:txBody>
      </p:sp>
      <p:sp>
        <p:nvSpPr>
          <p:cNvPr id="149" name="Context 1 chip 1"/>
          <p:cNvSpPr/>
          <p:nvPr/>
        </p:nvSpPr>
        <p:spPr>
          <a:xfrm>
            <a:off x="5293894" y="3010082"/>
            <a:ext cx="1312535"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Context 1 chip label 1"/>
          <p:cNvSpPr txBox="1"/>
          <p:nvPr/>
        </p:nvSpPr>
        <p:spPr>
          <a:xfrm>
            <a:off x="5293894" y="3010082"/>
            <a:ext cx="1312535"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Cross-Layer</a:t>
            </a:r>
          </a:p>
          <a:p>
            <a:pPr algn="ctr">
              <a:spcBef>
                <a:spcPts val="0"/>
              </a:spcBef>
              <a:spcAft>
                <a:spcPts val="0"/>
              </a:spcAft>
              <a:defRPr sz="1377" b="1">
                <a:solidFill>
                  <a:srgbClr val="11234B"/>
                </a:solidFill>
                <a:latin typeface="Arial"/>
              </a:defRPr>
            </a:pPr>
            <a:r>
              <a:t>Context</a:t>
            </a:r>
          </a:p>
        </p:txBody>
      </p:sp>
      <p:sp>
        <p:nvSpPr>
          <p:cNvPr id="151" name="Context 1 chip 2"/>
          <p:cNvSpPr/>
          <p:nvPr/>
        </p:nvSpPr>
        <p:spPr>
          <a:xfrm>
            <a:off x="6737684" y="3010082"/>
            <a:ext cx="1181282"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Context 1 chip label 2"/>
          <p:cNvSpPr txBox="1"/>
          <p:nvPr/>
        </p:nvSpPr>
        <p:spPr>
          <a:xfrm>
            <a:off x="6737684" y="3010082"/>
            <a:ext cx="1181282"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Temporal</a:t>
            </a:r>
          </a:p>
          <a:p>
            <a:pPr algn="ctr">
              <a:spcBef>
                <a:spcPts val="0"/>
              </a:spcBef>
              <a:spcAft>
                <a:spcPts val="0"/>
              </a:spcAft>
              <a:defRPr sz="1377" b="1">
                <a:solidFill>
                  <a:srgbClr val="11234B"/>
                </a:solidFill>
                <a:latin typeface="Arial"/>
              </a:defRPr>
            </a:pPr>
            <a:r>
              <a:t>Context</a:t>
            </a:r>
          </a:p>
        </p:txBody>
      </p:sp>
      <p:sp>
        <p:nvSpPr>
          <p:cNvPr id="153" name="Context 1 chip 3"/>
          <p:cNvSpPr/>
          <p:nvPr/>
        </p:nvSpPr>
        <p:spPr>
          <a:xfrm>
            <a:off x="8050220" y="3010082"/>
            <a:ext cx="875023"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Context 1 chip label 3"/>
          <p:cNvSpPr txBox="1"/>
          <p:nvPr/>
        </p:nvSpPr>
        <p:spPr>
          <a:xfrm>
            <a:off x="8050220" y="3010082"/>
            <a:ext cx="875023"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a:t>
            </a:r>
          </a:p>
        </p:txBody>
      </p:sp>
      <p:cxnSp>
        <p:nvCxnSpPr>
          <p:cNvPr id="155" name="Decoded structure to context"/>
          <p:cNvCxnSpPr>
            <a:stCxn id="15" idx="2"/>
          </p:cNvCxnSpPr>
          <p:nvPr/>
        </p:nvCxnSpPr>
        <p:spPr>
          <a:xfrm>
            <a:off x="7131444" y="2126307"/>
            <a:ext cx="0" cy="411262"/>
          </a:xfrm>
          <a:prstGeom prst="line">
            <a:avLst/>
          </a:prstGeom>
          <a:ln w="1651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6" name="Context panel 2"/>
          <p:cNvSpPr/>
          <p:nvPr/>
        </p:nvSpPr>
        <p:spPr>
          <a:xfrm>
            <a:off x="3570097" y="5477649"/>
            <a:ext cx="5600153" cy="1006277"/>
          </a:xfrm>
          <a:gradFill rotWithShape="1">
            <a:gsLst>
              <a:gs pos="0">
                <a:srgbClr val="FFF8E9"/>
              </a:gs>
              <a:gs pos="100000">
                <a:srgbClr val="FFECCB"/>
              </a:gs>
            </a:gsLst>
            <a:lin ang="5400000" scaled="1"/>
          </a:gradFill>
          <a:prstGeom prst="roundRect">
            <a:avLst>
              <a:gd name="adj" fmla="val 9565"/>
            </a:avLst>
          </a:prstGeom>
          <a:ln w="10795">
            <a:solidFill>
              <a:srgbClr val="D68A2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Context icon 2"/>
          <p:cNvSpPr/>
          <p:nvPr/>
        </p:nvSpPr>
        <p:spPr>
          <a:custGeom>
            <a:avLst/>
            <a:gdLst/>
            <a:ahLst/>
            <a:cxnLst/>
            <a:rect l="0" t="0" r="r" b="b"/>
            <a:pathLst>
              <a:path w="1000" h="1000" fill="none" stroke="1" extrusionOk="0">
                <a:moveTo>
                  <a:pt x="70" y="165"/>
                </a:moveTo>
                <a:cubicBezTo>
                  <a:pt x="70" y="25"/>
                  <a:pt x="900" y="25"/>
                  <a:pt x="900" y="165"/>
                </a:cubicBezTo>
                <a:cubicBezTo>
                  <a:pt x="900" y="325"/>
                  <a:pt x="70" y="325"/>
                  <a:pt x="70" y="165"/>
                </a:cubicBezTo>
                <a:lnTo>
                  <a:pt x="70" y="805"/>
                </a:lnTo>
                <a:cubicBezTo>
                  <a:pt x="70" y="980"/>
                  <a:pt x="900" y="980"/>
                  <a:pt x="900" y="805"/>
                </a:cubicBezTo>
                <a:lnTo>
                  <a:pt x="900" y="165"/>
                </a:lnTo>
                <a:moveTo>
                  <a:pt x="70" y="460"/>
                </a:moveTo>
                <a:cubicBezTo>
                  <a:pt x="70" y="620"/>
                  <a:pt x="900" y="620"/>
                  <a:pt x="900" y="460"/>
                </a:cubicBezTo>
                <a:moveTo>
                  <a:pt x="70" y="670"/>
                </a:moveTo>
                <a:cubicBezTo>
                  <a:pt x="70" y="830"/>
                  <a:pt x="900" y="830"/>
                  <a:pt x="900" y="670"/>
                </a:cubicBezTo>
              </a:path>
            </a:pathLst>
          </a:custGeom>
          <a:xfrm>
            <a:off x="5783908" y="5565152"/>
            <a:ext cx="253756" cy="253756"/>
          </a:xfrm>
          <a:noFill/>
          <a:ln w="22860">
            <a:solidFill>
              <a:srgbClr val="AE5B1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Context heading 2"/>
          <p:cNvSpPr txBox="1"/>
          <p:nvPr/>
        </p:nvSpPr>
        <p:spPr>
          <a:xfrm>
            <a:off x="6186419" y="5530151"/>
            <a:ext cx="1400038" cy="350009"/>
          </a:xfrm>
          <a:prstGeom prst="rect">
            <a:avLst/>
          </a:prstGeom>
          <a:noFill/>
        </p:spPr>
        <p:txBody>
          <a:bodyPr wrap="square" lIns="0" rIns="0" tIns="0" bIns="0" anchor="ctr">
            <a:spAutoFit/>
          </a:bodyPr>
          <a:lstStyle/>
          <a:p>
            <a:pPr algn="l">
              <a:spcBef>
                <a:spcPts val="0"/>
              </a:spcBef>
              <a:spcAft>
                <a:spcPts val="0"/>
              </a:spcAft>
              <a:defRPr sz="1860" b="1">
                <a:solidFill>
                  <a:srgbClr val="AE5B12"/>
                </a:solidFill>
                <a:latin typeface="Arial"/>
              </a:defRPr>
            </a:pPr>
            <a:r>
              <a:t>Context</a:t>
            </a:r>
          </a:p>
        </p:txBody>
      </p:sp>
      <p:sp>
        <p:nvSpPr>
          <p:cNvPr id="159" name="Context 2 chip 0"/>
          <p:cNvSpPr/>
          <p:nvPr/>
        </p:nvSpPr>
        <p:spPr>
          <a:xfrm>
            <a:off x="4025110" y="5950162"/>
            <a:ext cx="1137531"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Context 2 chip label 0"/>
          <p:cNvSpPr txBox="1"/>
          <p:nvPr/>
        </p:nvSpPr>
        <p:spPr>
          <a:xfrm>
            <a:off x="4025110" y="5950162"/>
            <a:ext cx="1137531"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Hyperprior</a:t>
            </a:r>
          </a:p>
        </p:txBody>
      </p:sp>
      <p:sp>
        <p:nvSpPr>
          <p:cNvPr id="161" name="Context 2 chip 1"/>
          <p:cNvSpPr/>
          <p:nvPr/>
        </p:nvSpPr>
        <p:spPr>
          <a:xfrm>
            <a:off x="5293894" y="5950162"/>
            <a:ext cx="1312535"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Context 2 chip label 1"/>
          <p:cNvSpPr txBox="1"/>
          <p:nvPr/>
        </p:nvSpPr>
        <p:spPr>
          <a:xfrm>
            <a:off x="5293894" y="5950162"/>
            <a:ext cx="1312535"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Cross-Layer</a:t>
            </a:r>
          </a:p>
          <a:p>
            <a:pPr algn="ctr">
              <a:spcBef>
                <a:spcPts val="0"/>
              </a:spcBef>
              <a:spcAft>
                <a:spcPts val="0"/>
              </a:spcAft>
              <a:defRPr sz="1377" b="1">
                <a:solidFill>
                  <a:srgbClr val="11234B"/>
                </a:solidFill>
                <a:latin typeface="Arial"/>
              </a:defRPr>
            </a:pPr>
            <a:r>
              <a:t>Context</a:t>
            </a:r>
          </a:p>
        </p:txBody>
      </p:sp>
      <p:sp>
        <p:nvSpPr>
          <p:cNvPr id="163" name="Context 2 chip 2"/>
          <p:cNvSpPr/>
          <p:nvPr/>
        </p:nvSpPr>
        <p:spPr>
          <a:xfrm>
            <a:off x="6737684" y="5950162"/>
            <a:ext cx="1181282"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Context 2 chip label 2"/>
          <p:cNvSpPr txBox="1"/>
          <p:nvPr/>
        </p:nvSpPr>
        <p:spPr>
          <a:xfrm>
            <a:off x="6737684" y="5950162"/>
            <a:ext cx="1181282"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Temporal</a:t>
            </a:r>
          </a:p>
          <a:p>
            <a:pPr algn="ctr">
              <a:spcBef>
                <a:spcPts val="0"/>
              </a:spcBef>
              <a:spcAft>
                <a:spcPts val="0"/>
              </a:spcAft>
              <a:defRPr sz="1377" b="1">
                <a:solidFill>
                  <a:srgbClr val="11234B"/>
                </a:solidFill>
                <a:latin typeface="Arial"/>
              </a:defRPr>
            </a:pPr>
            <a:r>
              <a:t>Context</a:t>
            </a:r>
          </a:p>
        </p:txBody>
      </p:sp>
      <p:sp>
        <p:nvSpPr>
          <p:cNvPr id="165" name="Context 2 chip 3"/>
          <p:cNvSpPr/>
          <p:nvPr/>
        </p:nvSpPr>
        <p:spPr>
          <a:xfrm>
            <a:off x="8050220" y="5950162"/>
            <a:ext cx="875023" cy="446262"/>
          </a:xfrm>
          <a:prstGeom prst="roundRect">
            <a:avLst>
              <a:gd name="adj" fmla="val 14000"/>
            </a:avLst>
          </a:prstGeom>
          <a:solidFill>
            <a:srgbClr val="FFFBF1"/>
          </a:solidFill>
          <a:ln w="10795">
            <a:solidFill>
              <a:srgbClr val="BE782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Context 2 chip label 3"/>
          <p:cNvSpPr txBox="1"/>
          <p:nvPr/>
        </p:nvSpPr>
        <p:spPr>
          <a:xfrm>
            <a:off x="8050220" y="5950162"/>
            <a:ext cx="875023" cy="446262"/>
          </a:xfrm>
          <a:prstGeom prst="rect">
            <a:avLst/>
          </a:prstGeom>
          <a:noFill/>
        </p:spPr>
        <p:txBody>
          <a:bodyPr wrap="square" lIns="0" rIns="0" tIns="0" bIns="0" anchor="ctr">
            <a:spAutoFit/>
          </a:bodyPr>
          <a:lstStyle/>
          <a:p>
            <a:pPr algn="ctr">
              <a:spcBef>
                <a:spcPts val="0"/>
              </a:spcBef>
              <a:spcAft>
                <a:spcPts val="0"/>
              </a:spcAft>
              <a:defRPr sz="1377" b="1">
                <a:solidFill>
                  <a:srgbClr val="11234B"/>
                </a:solidFill>
                <a:latin typeface="Arial"/>
              </a:defRPr>
            </a:pPr>
            <a:r>
              <a:t>…</a:t>
            </a:r>
          </a:p>
        </p:txBody>
      </p:sp>
      <p:cxnSp>
        <p:nvCxnSpPr>
          <p:cNvPr id="167" name="Decoded features to context"/>
          <p:cNvCxnSpPr>
            <a:stCxn id="48" idx="2"/>
          </p:cNvCxnSpPr>
          <p:nvPr/>
        </p:nvCxnSpPr>
        <p:spPr>
          <a:xfrm>
            <a:off x="7131444" y="5048887"/>
            <a:ext cx="0" cy="428762"/>
          </a:xfrm>
          <a:prstGeom prst="line">
            <a:avLst/>
          </a:prstGeom>
          <a:ln w="1651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8" name="Scenario brain"/>
          <p:cNvSpPr/>
          <p:nvPr/>
        </p:nvSpPr>
        <p:spPr>
          <a:custGeom>
            <a:avLst/>
            <a:gdLst/>
            <a:ahLst/>
            <a:cxnLst/>
            <a:rect l="0" t="0" r="r" b="b"/>
            <a:pathLst>
              <a:path w="1000" h="1000" fill="none" stroke="1" extrusionOk="0">
                <a:moveTo>
                  <a:pt x="495" y="125"/>
                </a:moveTo>
                <a:cubicBezTo>
                  <a:pt x="440" y="0"/>
                  <a:pt x="255" y="15"/>
                  <a:pt x="230" y="145"/>
                </a:cubicBezTo>
                <a:cubicBezTo>
                  <a:pt x="110" y="110"/>
                  <a:pt x="30" y="215"/>
                  <a:pt x="95" y="325"/>
                </a:cubicBezTo>
                <a:cubicBezTo>
                  <a:pt x="5" y="380"/>
                  <a:pt x="30" y="530"/>
                  <a:pt x="145" y="565"/>
                </a:cubicBezTo>
                <a:cubicBezTo>
                  <a:pt x="90" y="690"/>
                  <a:pt x="205" y="775"/>
                  <a:pt x="310" y="725"/>
                </a:cubicBezTo>
                <a:cubicBezTo>
                  <a:pt x="310" y="850"/>
                  <a:pt x="495" y="875"/>
                  <a:pt x="515" y="750"/>
                </a:cubicBezTo>
                <a:cubicBezTo>
                  <a:pt x="530" y="900"/>
                  <a:pt x="750" y="865"/>
                  <a:pt x="750" y="740"/>
                </a:cubicBezTo>
                <a:cubicBezTo>
                  <a:pt x="875" y="775"/>
                  <a:pt x="1000" y="650"/>
                  <a:pt x="920" y="545"/>
                </a:cubicBezTo>
                <a:cubicBezTo>
                  <a:pt x="1040" y="475"/>
                  <a:pt x="980" y="325"/>
                  <a:pt x="885" y="310"/>
                </a:cubicBezTo>
                <a:cubicBezTo>
                  <a:pt x="945" y="175"/>
                  <a:pt x="825" y="95"/>
                  <a:pt x="725" y="145"/>
                </a:cubicBezTo>
                <a:cubicBezTo>
                  <a:pt x="730" y="20"/>
                  <a:pt x="540" y="5"/>
                  <a:pt x="495" y="125"/>
                </a:cubicBezTo>
                <a:moveTo>
                  <a:pt x="500" y="130"/>
                </a:moveTo>
                <a:cubicBezTo>
                  <a:pt x="505" y="270"/>
                  <a:pt x="490" y="465"/>
                  <a:pt x="510" y="645"/>
                </a:cubicBezTo>
                <a:moveTo>
                  <a:pt x="245" y="180"/>
                </a:moveTo>
                <a:cubicBezTo>
                  <a:pt x="230" y="295"/>
                  <a:pt x="335" y="275"/>
                  <a:pt x="330" y="380"/>
                </a:cubicBezTo>
                <a:moveTo>
                  <a:pt x="160" y="365"/>
                </a:moveTo>
                <a:cubicBezTo>
                  <a:pt x="280" y="345"/>
                  <a:pt x="255" y="460"/>
                  <a:pt x="300" y="490"/>
                </a:cubicBezTo>
                <a:moveTo>
                  <a:pt x="160" y="580"/>
                </a:moveTo>
                <a:cubicBezTo>
                  <a:pt x="305" y="570"/>
                  <a:pt x="365" y="620"/>
                  <a:pt x="335" y="715"/>
                </a:cubicBezTo>
                <a:moveTo>
                  <a:pt x="710" y="200"/>
                </a:moveTo>
                <a:cubicBezTo>
                  <a:pt x="690" y="310"/>
                  <a:pt x="590" y="270"/>
                  <a:pt x="615" y="385"/>
                </a:cubicBezTo>
                <a:moveTo>
                  <a:pt x="865" y="345"/>
                </a:moveTo>
                <a:cubicBezTo>
                  <a:pt x="760" y="355"/>
                  <a:pt x="805" y="455"/>
                  <a:pt x="715" y="480"/>
                </a:cubicBezTo>
                <a:moveTo>
                  <a:pt x="870" y="560"/>
                </a:moveTo>
                <a:cubicBezTo>
                  <a:pt x="770" y="535"/>
                  <a:pt x="710" y="600"/>
                  <a:pt x="735" y="690"/>
                </a:cubicBezTo>
                <a:moveTo>
                  <a:pt x="570" y="810"/>
                </a:moveTo>
                <a:cubicBezTo>
                  <a:pt x="580" y="860"/>
                  <a:pt x="650" y="875"/>
                  <a:pt x="655" y="965"/>
                </a:cubicBezTo>
              </a:path>
            </a:pathLst>
          </a:custGeom>
          <a:xfrm>
            <a:off x="11357810" y="988777"/>
            <a:ext cx="498763" cy="498763"/>
          </a:xfrm>
          <a:noFill/>
          <a:ln w="2286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Scenarios heading"/>
          <p:cNvSpPr txBox="1"/>
          <p:nvPr/>
        </p:nvSpPr>
        <p:spPr>
          <a:xfrm>
            <a:off x="12119081" y="953776"/>
            <a:ext cx="2143808" cy="490013"/>
          </a:xfrm>
          <a:prstGeom prst="rect">
            <a:avLst/>
          </a:prstGeom>
          <a:noFill/>
        </p:spPr>
        <p:txBody>
          <a:bodyPr wrap="square" lIns="0" rIns="0" tIns="0" bIns="0" anchor="ctr">
            <a:spAutoFit/>
          </a:bodyPr>
          <a:lstStyle/>
          <a:p>
            <a:pPr algn="l">
              <a:spcBef>
                <a:spcPts val="0"/>
              </a:spcBef>
              <a:spcAft>
                <a:spcPts val="0"/>
              </a:spcAft>
              <a:defRPr sz="2135" b="1">
                <a:solidFill>
                  <a:srgbClr val="11234B"/>
                </a:solidFill>
                <a:latin typeface="Arial"/>
              </a:defRPr>
            </a:pPr>
            <a:r>
              <a:t>SCENARIOS</a:t>
            </a:r>
          </a:p>
        </p:txBody>
      </p:sp>
      <p:sp>
        <p:nvSpPr>
          <p:cNvPr id="170" name="Scenario Training badge"/>
          <p:cNvSpPr/>
          <p:nvPr/>
        </p:nvSpPr>
        <p:spPr>
          <a:xfrm>
            <a:off x="11576566" y="1513791"/>
            <a:ext cx="612516" cy="612516"/>
          </a:xfrm>
          <a:prstGeom prst="ellipse">
            <a:avLst/>
          </a:prstGeom>
          <a:solidFill>
            <a:srgbClr val="ECE5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1" name="Scenario Training icon axes-0"/>
          <p:cNvCxnSpPr/>
          <p:nvPr/>
        </p:nvCxnSpPr>
        <p:spPr>
          <a:xfrm>
            <a:off x="11772571" y="1695096"/>
            <a:ext cx="0" cy="243957"/>
          </a:xfrm>
          <a:prstGeom prst="line">
            <a:avLst/>
          </a:prstGeom>
          <a:ln w="1905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72" name="Scenario Training icon axes-1"/>
          <p:cNvCxnSpPr/>
          <p:nvPr/>
        </p:nvCxnSpPr>
        <p:spPr>
          <a:xfrm>
            <a:off x="11772571" y="1939053"/>
            <a:ext cx="249907" cy="0"/>
          </a:xfrm>
          <a:prstGeom prst="line">
            <a:avLst/>
          </a:prstGeom>
          <a:ln w="19050">
            <a:solidFill>
              <a:srgbClr val="49328D"/>
            </a:solidFill>
          </a:ln>
          <a:effectLst/>
        </p:spPr>
        <p:style>
          <a:lnRef idx="2">
            <a:schemeClr val="accent1"/>
          </a:lnRef>
          <a:fillRef idx="0">
            <a:schemeClr val="accent1"/>
          </a:fillRef>
          <a:effectRef idx="0">
            <a:schemeClr val="accent1"/>
          </a:effectRef>
          <a:fontRef idx="minor">
            <a:schemeClr val="tx1"/>
          </a:fontRef>
        </p:style>
      </p:cxnSp>
      <p:sp>
        <p:nvSpPr>
          <p:cNvPr id="173" name="Scenario Training icon loss curve"/>
          <p:cNvSpPr/>
          <p:nvPr/>
        </p:nvSpPr>
        <p:spPr>
          <a:custGeom>
            <a:avLst/>
            <a:gdLst/>
            <a:ahLst/>
            <a:cxnLst/>
            <a:rect l="0" t="0" r="r" b="b"/>
            <a:pathLst>
              <a:path w="1000" h="1000" fill="none" stroke="1" extrusionOk="0">
                <a:moveTo>
                  <a:pt x="230" y="160"/>
                </a:moveTo>
                <a:cubicBezTo>
                  <a:pt x="280" y="170"/>
                  <a:pt x="290" y="430"/>
                  <a:pt x="430" y="530"/>
                </a:cubicBezTo>
                <a:cubicBezTo>
                  <a:pt x="570" y="650"/>
                  <a:pt x="740" y="660"/>
                  <a:pt x="880" y="710"/>
                </a:cubicBezTo>
              </a:path>
            </a:pathLst>
          </a:custGeom>
          <a:xfrm>
            <a:off x="11742821" y="1671295"/>
            <a:ext cx="297508" cy="297508"/>
          </a:xfrm>
          <a:noFill/>
          <a:ln w="2286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Scenario Training label"/>
          <p:cNvSpPr txBox="1"/>
          <p:nvPr/>
        </p:nvSpPr>
        <p:spPr>
          <a:xfrm>
            <a:off x="12425339" y="1601293"/>
            <a:ext cx="1837550" cy="490013"/>
          </a:xfrm>
          <a:prstGeom prst="rect">
            <a:avLst/>
          </a:prstGeom>
          <a:noFill/>
        </p:spPr>
        <p:txBody>
          <a:bodyPr wrap="square" lIns="0" rIns="0" tIns="0" bIns="0" anchor="ctr">
            <a:spAutoFit/>
          </a:bodyPr>
          <a:lstStyle/>
          <a:p>
            <a:pPr algn="l">
              <a:spcBef>
                <a:spcPts val="0"/>
              </a:spcBef>
              <a:spcAft>
                <a:spcPts val="0"/>
              </a:spcAft>
              <a:defRPr sz="1722" b="0">
                <a:solidFill>
                  <a:srgbClr val="11234B"/>
                </a:solidFill>
                <a:latin typeface="Arial"/>
              </a:defRPr>
            </a:pPr>
            <a:r>
              <a:t>Training</a:t>
            </a:r>
          </a:p>
        </p:txBody>
      </p:sp>
      <p:sp>
        <p:nvSpPr>
          <p:cNvPr id="175" name="Scenario Inference badge"/>
          <p:cNvSpPr/>
          <p:nvPr/>
        </p:nvSpPr>
        <p:spPr>
          <a:xfrm>
            <a:off x="11576566" y="2213810"/>
            <a:ext cx="612516" cy="612516"/>
          </a:xfrm>
          <a:prstGeom prst="ellipse">
            <a:avLst/>
          </a:prstGeom>
          <a:solidFill>
            <a:srgbClr val="ECE5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Scenario Inference icon chip"/>
          <p:cNvSpPr/>
          <p:nvPr/>
        </p:nvSpPr>
        <p:spPr>
          <a:xfrm>
            <a:off x="11793397" y="2421891"/>
            <a:ext cx="196355" cy="196355"/>
          </a:xfrm>
          <a:prstGeom prst="roundRect">
            <a:avLst>
              <a:gd name="adj" fmla="val 14000"/>
            </a:avLst>
          </a:prstGeom>
          <a:noFill/>
          <a:ln w="20320">
            <a:solidFill>
              <a:srgbClr val="49328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7" name="Scenario Inference icon run-0"/>
          <p:cNvCxnSpPr/>
          <p:nvPr/>
        </p:nvCxnSpPr>
        <p:spPr>
          <a:xfrm>
            <a:off x="11864799" y="2466517"/>
            <a:ext cx="74377" cy="53551"/>
          </a:xfrm>
          <a:prstGeom prst="line">
            <a:avLst/>
          </a:prstGeom>
          <a:ln w="1905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78" name="Scenario Inference icon run-1"/>
          <p:cNvCxnSpPr/>
          <p:nvPr/>
        </p:nvCxnSpPr>
        <p:spPr>
          <a:xfrm flipH="1">
            <a:off x="11864799" y="2520068"/>
            <a:ext cx="74377" cy="53552"/>
          </a:xfrm>
          <a:prstGeom prst="line">
            <a:avLst/>
          </a:prstGeom>
          <a:ln w="1905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79" name="Scenario Inference icon run-2"/>
          <p:cNvCxnSpPr/>
          <p:nvPr/>
        </p:nvCxnSpPr>
        <p:spPr>
          <a:xfrm flipV="1">
            <a:off x="11864799" y="2466517"/>
            <a:ext cx="0" cy="107103"/>
          </a:xfrm>
          <a:prstGeom prst="line">
            <a:avLst/>
          </a:prstGeom>
          <a:ln w="1905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0" name="Scenario Inference icon-pin-left0"/>
          <p:cNvCxnSpPr/>
          <p:nvPr/>
        </p:nvCxnSpPr>
        <p:spPr>
          <a:xfrm>
            <a:off x="11748771" y="2466517"/>
            <a:ext cx="44626" cy="0"/>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1" name="Scenario Inference icon-pin-right0"/>
          <p:cNvCxnSpPr/>
          <p:nvPr/>
        </p:nvCxnSpPr>
        <p:spPr>
          <a:xfrm>
            <a:off x="11989752" y="2466517"/>
            <a:ext cx="44627" cy="0"/>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2" name="Scenario Inference icon-pin-top0"/>
          <p:cNvCxnSpPr/>
          <p:nvPr/>
        </p:nvCxnSpPr>
        <p:spPr>
          <a:xfrm>
            <a:off x="11838023" y="2377264"/>
            <a:ext cx="0" cy="44627"/>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3" name="Scenario Inference icon-pin-bottom0"/>
          <p:cNvCxnSpPr/>
          <p:nvPr/>
        </p:nvCxnSpPr>
        <p:spPr>
          <a:xfrm>
            <a:off x="11838023" y="2618246"/>
            <a:ext cx="0" cy="44626"/>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4" name="Scenario Inference icon-pin-left1"/>
          <p:cNvCxnSpPr/>
          <p:nvPr/>
        </p:nvCxnSpPr>
        <p:spPr>
          <a:xfrm>
            <a:off x="11748771" y="2520068"/>
            <a:ext cx="44626" cy="0"/>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5" name="Scenario Inference icon-pin-right1"/>
          <p:cNvCxnSpPr/>
          <p:nvPr/>
        </p:nvCxnSpPr>
        <p:spPr>
          <a:xfrm>
            <a:off x="11989752" y="2520068"/>
            <a:ext cx="44627" cy="0"/>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6" name="Scenario Inference icon-pin-top1"/>
          <p:cNvCxnSpPr/>
          <p:nvPr/>
        </p:nvCxnSpPr>
        <p:spPr>
          <a:xfrm>
            <a:off x="11891575" y="2377264"/>
            <a:ext cx="0" cy="44627"/>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7" name="Scenario Inference icon-pin-bottom1"/>
          <p:cNvCxnSpPr/>
          <p:nvPr/>
        </p:nvCxnSpPr>
        <p:spPr>
          <a:xfrm>
            <a:off x="11891575" y="2618246"/>
            <a:ext cx="0" cy="44626"/>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8" name="Scenario Inference icon-pin-left2"/>
          <p:cNvCxnSpPr/>
          <p:nvPr/>
        </p:nvCxnSpPr>
        <p:spPr>
          <a:xfrm>
            <a:off x="11748771" y="2573620"/>
            <a:ext cx="44626" cy="0"/>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89" name="Scenario Inference icon-pin-right2"/>
          <p:cNvCxnSpPr/>
          <p:nvPr/>
        </p:nvCxnSpPr>
        <p:spPr>
          <a:xfrm>
            <a:off x="11989752" y="2573620"/>
            <a:ext cx="44627" cy="0"/>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90" name="Scenario Inference icon-pin-top2"/>
          <p:cNvCxnSpPr/>
          <p:nvPr/>
        </p:nvCxnSpPr>
        <p:spPr>
          <a:xfrm>
            <a:off x="11945126" y="2377264"/>
            <a:ext cx="0" cy="44627"/>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cxnSp>
        <p:nvCxnSpPr>
          <p:cNvPr id="191" name="Scenario Inference icon-pin-bottom2"/>
          <p:cNvCxnSpPr/>
          <p:nvPr/>
        </p:nvCxnSpPr>
        <p:spPr>
          <a:xfrm>
            <a:off x="11945126" y="2618246"/>
            <a:ext cx="0" cy="44626"/>
          </a:xfrm>
          <a:prstGeom prst="line">
            <a:avLst/>
          </a:prstGeom>
          <a:ln w="21590">
            <a:solidFill>
              <a:srgbClr val="49328D"/>
            </a:solidFill>
          </a:ln>
          <a:effectLst/>
        </p:spPr>
        <p:style>
          <a:lnRef idx="2">
            <a:schemeClr val="accent1"/>
          </a:lnRef>
          <a:fillRef idx="0">
            <a:schemeClr val="accent1"/>
          </a:fillRef>
          <a:effectRef idx="0">
            <a:schemeClr val="accent1"/>
          </a:effectRef>
          <a:fontRef idx="minor">
            <a:schemeClr val="tx1"/>
          </a:fontRef>
        </p:style>
      </p:cxnSp>
      <p:sp>
        <p:nvSpPr>
          <p:cNvPr id="192" name="Scenario Inference label"/>
          <p:cNvSpPr txBox="1"/>
          <p:nvPr/>
        </p:nvSpPr>
        <p:spPr>
          <a:xfrm>
            <a:off x="12425339" y="2301312"/>
            <a:ext cx="1837550" cy="490013"/>
          </a:xfrm>
          <a:prstGeom prst="rect">
            <a:avLst/>
          </a:prstGeom>
          <a:noFill/>
        </p:spPr>
        <p:txBody>
          <a:bodyPr wrap="square" lIns="0" rIns="0" tIns="0" bIns="0" anchor="ctr">
            <a:spAutoFit/>
          </a:bodyPr>
          <a:lstStyle/>
          <a:p>
            <a:pPr algn="l">
              <a:spcBef>
                <a:spcPts val="0"/>
              </a:spcBef>
              <a:spcAft>
                <a:spcPts val="0"/>
              </a:spcAft>
              <a:defRPr sz="1722" b="0">
                <a:solidFill>
                  <a:srgbClr val="11234B"/>
                </a:solidFill>
                <a:latin typeface="Arial"/>
              </a:defRPr>
            </a:pPr>
            <a:r>
              <a:t>Inference</a:t>
            </a:r>
          </a:p>
        </p:txBody>
      </p:sp>
      <p:sp>
        <p:nvSpPr>
          <p:cNvPr id="193" name="Tasks clipboardbody"/>
          <p:cNvSpPr/>
          <p:nvPr/>
        </p:nvSpPr>
        <p:spPr>
          <a:xfrm>
            <a:off x="11470688" y="3446544"/>
            <a:ext cx="343009" cy="368735"/>
          </a:xfrm>
          <a:prstGeom prst="roundRect">
            <a:avLst>
              <a:gd name="adj" fmla="val 14000"/>
            </a:avLst>
          </a:prstGeom>
          <a:noFill/>
          <a:ln w="2286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Tasks clipboardtab"/>
          <p:cNvSpPr/>
          <p:nvPr/>
        </p:nvSpPr>
        <p:spPr>
          <a:xfrm>
            <a:off x="11565016" y="3395092"/>
            <a:ext cx="154354" cy="85752"/>
          </a:xfrm>
          <a:prstGeom prst="roundRect">
            <a:avLst>
              <a:gd name="adj" fmla="val 14000"/>
            </a:avLst>
          </a:prstGeom>
          <a:solidFill>
            <a:srgbClr val="FFFFFF"/>
          </a:solidFill>
          <a:ln w="2286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5" name="Tasks clipboard-rule0"/>
          <p:cNvCxnSpPr/>
          <p:nvPr/>
        </p:nvCxnSpPr>
        <p:spPr>
          <a:xfrm>
            <a:off x="11535002" y="3566597"/>
            <a:ext cx="214381" cy="0"/>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96" name="Tasks clipboard-rule1"/>
          <p:cNvCxnSpPr/>
          <p:nvPr/>
        </p:nvCxnSpPr>
        <p:spPr>
          <a:xfrm>
            <a:off x="11535002" y="3635199"/>
            <a:ext cx="214381" cy="0"/>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197" name="Tasks clipboard-rule2"/>
          <p:cNvCxnSpPr/>
          <p:nvPr/>
        </p:nvCxnSpPr>
        <p:spPr>
          <a:xfrm>
            <a:off x="11535002" y="3703801"/>
            <a:ext cx="214381" cy="0"/>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sp>
        <p:nvSpPr>
          <p:cNvPr id="198" name="Tasks heading"/>
          <p:cNvSpPr txBox="1"/>
          <p:nvPr/>
        </p:nvSpPr>
        <p:spPr>
          <a:xfrm>
            <a:off x="12119081" y="3368842"/>
            <a:ext cx="2143808" cy="437511"/>
          </a:xfrm>
          <a:prstGeom prst="rect">
            <a:avLst/>
          </a:prstGeom>
          <a:noFill/>
        </p:spPr>
        <p:txBody>
          <a:bodyPr wrap="square" lIns="0" rIns="0" tIns="0" bIns="0" anchor="ctr">
            <a:spAutoFit/>
          </a:bodyPr>
          <a:lstStyle/>
          <a:p>
            <a:pPr algn="l">
              <a:spcBef>
                <a:spcPts val="0"/>
              </a:spcBef>
              <a:spcAft>
                <a:spcPts val="0"/>
              </a:spcAft>
              <a:defRPr sz="2204" b="1">
                <a:solidFill>
                  <a:srgbClr val="11234B"/>
                </a:solidFill>
                <a:latin typeface="Arial"/>
              </a:defRPr>
            </a:pPr>
            <a:r>
              <a:t>TASKS</a:t>
            </a:r>
          </a:p>
        </p:txBody>
      </p:sp>
      <p:sp>
        <p:nvSpPr>
          <p:cNvPr id="199" name="Perception task badge"/>
          <p:cNvSpPr/>
          <p:nvPr/>
        </p:nvSpPr>
        <p:spPr>
          <a:xfrm>
            <a:off x="11340310" y="4033860"/>
            <a:ext cx="603766" cy="603766"/>
          </a:xfrm>
          <a:prstGeom prst="ellipse">
            <a:avLst/>
          </a:prstGeom>
          <a:solidFill>
            <a:srgbClr val="D8F7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Perception task iconoutline"/>
          <p:cNvSpPr/>
          <p:nvPr/>
        </p:nvSpPr>
        <p:spPr>
          <a:custGeom>
            <a:avLst/>
            <a:gdLst/>
            <a:ahLst/>
            <a:cxnLst/>
            <a:rect l="0" t="0" r="r" b="b"/>
            <a:pathLst>
              <a:path w="1000" h="1000" fill="none" stroke="1" extrusionOk="0">
                <a:moveTo>
                  <a:pt x="20" y="510"/>
                </a:moveTo>
                <a:cubicBezTo>
                  <a:pt x="270" y="170"/>
                  <a:pt x="730" y="170"/>
                  <a:pt x="980" y="510"/>
                </a:cubicBezTo>
                <a:cubicBezTo>
                  <a:pt x="730" y="850"/>
                  <a:pt x="270" y="850"/>
                  <a:pt x="20" y="510"/>
                </a:cubicBezTo>
              </a:path>
            </a:pathLst>
          </a:custGeom>
          <a:xfrm>
            <a:off x="11489064" y="4182614"/>
            <a:ext cx="306258" cy="306258"/>
          </a:xfrm>
          <a:noFill/>
          <a:ln w="2286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ception task iconpupil"/>
          <p:cNvSpPr/>
          <p:nvPr/>
        </p:nvSpPr>
        <p:spPr>
          <a:xfrm>
            <a:off x="11587066" y="4271429"/>
            <a:ext cx="110253" cy="134753"/>
          </a:xfrm>
          <a:prstGeom prst="ellipse">
            <a:avLst/>
          </a:prstGeom>
          <a:noFill/>
          <a:ln w="2159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Perception task heading"/>
          <p:cNvSpPr txBox="1"/>
          <p:nvPr/>
        </p:nvSpPr>
        <p:spPr>
          <a:xfrm>
            <a:off x="12119081" y="4033860"/>
            <a:ext cx="2231311" cy="306258"/>
          </a:xfrm>
          <a:prstGeom prst="rect">
            <a:avLst/>
          </a:prstGeom>
          <a:noFill/>
        </p:spPr>
        <p:txBody>
          <a:bodyPr wrap="square" lIns="0" rIns="0" tIns="0" bIns="0" anchor="ctr">
            <a:spAutoFit/>
          </a:bodyPr>
          <a:lstStyle/>
          <a:p>
            <a:pPr algn="l">
              <a:spcBef>
                <a:spcPts val="0"/>
              </a:spcBef>
              <a:spcAft>
                <a:spcPts val="0"/>
              </a:spcAft>
              <a:defRPr sz="1653" b="1">
                <a:solidFill>
                  <a:srgbClr val="11234B"/>
                </a:solidFill>
                <a:latin typeface="Arial"/>
              </a:defRPr>
            </a:pPr>
            <a:r>
              <a:t>Perception</a:t>
            </a:r>
          </a:p>
        </p:txBody>
      </p:sp>
      <p:sp>
        <p:nvSpPr>
          <p:cNvPr id="203" name="Perception task examples"/>
          <p:cNvSpPr txBox="1"/>
          <p:nvPr/>
        </p:nvSpPr>
        <p:spPr>
          <a:xfrm>
            <a:off x="12119081" y="4348868"/>
            <a:ext cx="2248811" cy="428761"/>
          </a:xfrm>
          <a:prstGeom prst="rect">
            <a:avLst/>
          </a:prstGeom>
          <a:noFill/>
        </p:spPr>
        <p:txBody>
          <a:bodyPr wrap="square" lIns="0" rIns="0" tIns="0" bIns="0" anchor="ctr">
            <a:spAutoFit/>
          </a:bodyPr>
          <a:lstStyle/>
          <a:p>
            <a:pPr algn="l">
              <a:spcBef>
                <a:spcPts val="0"/>
              </a:spcBef>
              <a:spcAft>
                <a:spcPts val="0"/>
              </a:spcAft>
              <a:defRPr sz="1240" b="0">
                <a:solidFill>
                  <a:srgbClr val="40567C"/>
                </a:solidFill>
                <a:latin typeface="Arial"/>
              </a:defRPr>
            </a:pPr>
            <a:r>
              <a:t>Classification · Segmentation</a:t>
            </a:r>
          </a:p>
          <a:p>
            <a:pPr algn="l">
              <a:spcBef>
                <a:spcPts val="0"/>
              </a:spcBef>
              <a:spcAft>
                <a:spcPts val="0"/>
              </a:spcAft>
              <a:defRPr sz="1240" b="0">
                <a:solidFill>
                  <a:srgbClr val="40567C"/>
                </a:solidFill>
                <a:latin typeface="Arial"/>
              </a:defRPr>
            </a:pPr>
            <a:r>
              <a:t>Detection · Retrieval</a:t>
            </a:r>
          </a:p>
        </p:txBody>
      </p:sp>
      <p:sp>
        <p:nvSpPr>
          <p:cNvPr id="204" name="Understanding task badge"/>
          <p:cNvSpPr/>
          <p:nvPr/>
        </p:nvSpPr>
        <p:spPr>
          <a:xfrm>
            <a:off x="11340310" y="5101389"/>
            <a:ext cx="603766" cy="603766"/>
          </a:xfrm>
          <a:prstGeom prst="ellipse">
            <a:avLst/>
          </a:prstGeom>
          <a:solidFill>
            <a:srgbClr val="FCEA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5" name="Understanding task iconbulb"/>
          <p:cNvSpPr/>
          <p:nvPr/>
        </p:nvSpPr>
        <p:spPr>
          <a:xfrm>
            <a:off x="11553378" y="5271581"/>
            <a:ext cx="177629" cy="177629"/>
          </a:xfrm>
          <a:prstGeom prst="ellipse">
            <a:avLst/>
          </a:prstGeom>
          <a:noFill/>
          <a:ln w="2286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Understanding task iconbase-0"/>
          <p:cNvCxnSpPr/>
          <p:nvPr/>
        </p:nvCxnSpPr>
        <p:spPr>
          <a:xfrm>
            <a:off x="11602379" y="5440023"/>
            <a:ext cx="0" cy="73502"/>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07" name="Understanding task iconbase-1"/>
          <p:cNvCxnSpPr/>
          <p:nvPr/>
        </p:nvCxnSpPr>
        <p:spPr>
          <a:xfrm>
            <a:off x="11602379" y="5513525"/>
            <a:ext cx="85753" cy="0"/>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08" name="Understanding task iconbase-2"/>
          <p:cNvCxnSpPr/>
          <p:nvPr/>
        </p:nvCxnSpPr>
        <p:spPr>
          <a:xfrm flipV="1">
            <a:off x="11688132" y="5440023"/>
            <a:ext cx="0" cy="73502"/>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09" name="Understanding task icon-bottom"/>
          <p:cNvCxnSpPr/>
          <p:nvPr/>
        </p:nvCxnSpPr>
        <p:spPr>
          <a:xfrm>
            <a:off x="11614630" y="5541088"/>
            <a:ext cx="61251" cy="0"/>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10" name="Understanding task icon-ray0"/>
          <p:cNvCxnSpPr/>
          <p:nvPr/>
        </p:nvCxnSpPr>
        <p:spPr>
          <a:xfrm>
            <a:off x="11504377" y="5317520"/>
            <a:ext cx="30625" cy="27563"/>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11" name="Understanding task icon-ray1"/>
          <p:cNvCxnSpPr/>
          <p:nvPr/>
        </p:nvCxnSpPr>
        <p:spPr>
          <a:xfrm>
            <a:off x="11636068" y="5228705"/>
            <a:ext cx="0" cy="27563"/>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12" name="Understanding task icon-ray2"/>
          <p:cNvCxnSpPr/>
          <p:nvPr/>
        </p:nvCxnSpPr>
        <p:spPr>
          <a:xfrm flipV="1">
            <a:off x="11749383" y="5296082"/>
            <a:ext cx="30626" cy="24500"/>
          </a:xfrm>
          <a:prstGeom prst="line">
            <a:avLst/>
          </a:prstGeom>
          <a:ln w="21590">
            <a:solidFill>
              <a:srgbClr val="11234B"/>
            </a:solidFill>
          </a:ln>
          <a:effectLst/>
        </p:spPr>
        <p:style>
          <a:lnRef idx="2">
            <a:schemeClr val="accent1"/>
          </a:lnRef>
          <a:fillRef idx="0">
            <a:schemeClr val="accent1"/>
          </a:fillRef>
          <a:effectRef idx="0">
            <a:schemeClr val="accent1"/>
          </a:effectRef>
          <a:fontRef idx="minor">
            <a:schemeClr val="tx1"/>
          </a:fontRef>
        </p:style>
      </p:cxnSp>
      <p:sp>
        <p:nvSpPr>
          <p:cNvPr id="213" name="Understanding task heading"/>
          <p:cNvSpPr txBox="1"/>
          <p:nvPr/>
        </p:nvSpPr>
        <p:spPr>
          <a:xfrm>
            <a:off x="12119081" y="5101389"/>
            <a:ext cx="2231311" cy="306258"/>
          </a:xfrm>
          <a:prstGeom prst="rect">
            <a:avLst/>
          </a:prstGeom>
          <a:noFill/>
        </p:spPr>
        <p:txBody>
          <a:bodyPr wrap="square" lIns="0" rIns="0" tIns="0" bIns="0" anchor="ctr">
            <a:spAutoFit/>
          </a:bodyPr>
          <a:lstStyle/>
          <a:p>
            <a:pPr algn="l">
              <a:spcBef>
                <a:spcPts val="0"/>
              </a:spcBef>
              <a:spcAft>
                <a:spcPts val="0"/>
              </a:spcAft>
              <a:defRPr sz="1653" b="1">
                <a:solidFill>
                  <a:srgbClr val="11234B"/>
                </a:solidFill>
                <a:latin typeface="Arial"/>
              </a:defRPr>
            </a:pPr>
            <a:r>
              <a:t>Understanding</a:t>
            </a:r>
          </a:p>
        </p:txBody>
      </p:sp>
      <p:sp>
        <p:nvSpPr>
          <p:cNvPr id="214" name="Understanding task examples"/>
          <p:cNvSpPr txBox="1"/>
          <p:nvPr/>
        </p:nvSpPr>
        <p:spPr>
          <a:xfrm>
            <a:off x="12119081" y="5416398"/>
            <a:ext cx="2248811" cy="262507"/>
          </a:xfrm>
          <a:prstGeom prst="rect">
            <a:avLst/>
          </a:prstGeom>
          <a:noFill/>
        </p:spPr>
        <p:txBody>
          <a:bodyPr wrap="square" lIns="0" rIns="0" tIns="0" bIns="0" anchor="ctr">
            <a:spAutoFit/>
          </a:bodyPr>
          <a:lstStyle/>
          <a:p>
            <a:pPr algn="l">
              <a:spcBef>
                <a:spcPts val="0"/>
              </a:spcBef>
              <a:spcAft>
                <a:spcPts val="0"/>
              </a:spcAft>
              <a:defRPr sz="1240" b="0">
                <a:solidFill>
                  <a:srgbClr val="40567C"/>
                </a:solidFill>
                <a:latin typeface="Arial"/>
              </a:defRPr>
            </a:pPr>
            <a:r>
              <a:t>Visual Q&amp;A · Anomaly detection</a:t>
            </a:r>
          </a:p>
        </p:txBody>
      </p:sp>
      <p:sp>
        <p:nvSpPr>
          <p:cNvPr id="215" name="Generation task badge"/>
          <p:cNvSpPr/>
          <p:nvPr/>
        </p:nvSpPr>
        <p:spPr>
          <a:xfrm>
            <a:off x="11340310" y="6168918"/>
            <a:ext cx="603766" cy="603766"/>
          </a:xfrm>
          <a:prstGeom prst="ellipse">
            <a:avLst/>
          </a:prstGeom>
          <a:solidFill>
            <a:srgbClr val="D8F7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Generation task iconframe"/>
          <p:cNvSpPr/>
          <p:nvPr/>
        </p:nvSpPr>
        <p:spPr>
          <a:xfrm>
            <a:off x="11489064" y="6317672"/>
            <a:ext cx="306258" cy="306258"/>
          </a:xfrm>
          <a:prstGeom prst="roundRect">
            <a:avLst>
              <a:gd name="adj" fmla="val 14000"/>
            </a:avLst>
          </a:prstGeom>
          <a:noFill/>
          <a:ln w="21590">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7" name="Generation task iconmountain-0"/>
          <p:cNvCxnSpPr/>
          <p:nvPr/>
        </p:nvCxnSpPr>
        <p:spPr>
          <a:xfrm flipV="1">
            <a:off x="11528877" y="6461614"/>
            <a:ext cx="91878" cy="107190"/>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18" name="Generation task iconmountain-1"/>
          <p:cNvCxnSpPr/>
          <p:nvPr/>
        </p:nvCxnSpPr>
        <p:spPr>
          <a:xfrm>
            <a:off x="11620755" y="6461614"/>
            <a:ext cx="52064" cy="58189"/>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19" name="Generation task iconmountain-2"/>
          <p:cNvCxnSpPr/>
          <p:nvPr/>
        </p:nvCxnSpPr>
        <p:spPr>
          <a:xfrm flipV="1">
            <a:off x="11672819" y="6455488"/>
            <a:ext cx="45938" cy="64315"/>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cxnSp>
        <p:nvCxnSpPr>
          <p:cNvPr id="220" name="Generation task iconmountain-3"/>
          <p:cNvCxnSpPr/>
          <p:nvPr/>
        </p:nvCxnSpPr>
        <p:spPr>
          <a:xfrm>
            <a:off x="11718757" y="6455488"/>
            <a:ext cx="45939" cy="113316"/>
          </a:xfrm>
          <a:prstGeom prst="line">
            <a:avLst/>
          </a:prstGeom>
          <a:ln w="18415">
            <a:solidFill>
              <a:srgbClr val="11234B"/>
            </a:solidFill>
          </a:ln>
          <a:effectLst/>
        </p:spPr>
        <p:style>
          <a:lnRef idx="2">
            <a:schemeClr val="accent1"/>
          </a:lnRef>
          <a:fillRef idx="0">
            <a:schemeClr val="accent1"/>
          </a:fillRef>
          <a:effectRef idx="0">
            <a:schemeClr val="accent1"/>
          </a:effectRef>
          <a:fontRef idx="minor">
            <a:schemeClr val="tx1"/>
          </a:fontRef>
        </p:style>
      </p:cxnSp>
      <p:sp>
        <p:nvSpPr>
          <p:cNvPr id="221" name="Generation task iconsun"/>
          <p:cNvSpPr/>
          <p:nvPr/>
        </p:nvSpPr>
        <p:spPr>
          <a:xfrm>
            <a:off x="11541128" y="6378924"/>
            <a:ext cx="36751" cy="36751"/>
          </a:xfrm>
          <a:prstGeom prst="ellipse">
            <a:avLst/>
          </a:prstGeom>
          <a:noFill/>
          <a:ln w="10795">
            <a:solidFill>
              <a:srgbClr val="11234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Generation task heading"/>
          <p:cNvSpPr txBox="1"/>
          <p:nvPr/>
        </p:nvSpPr>
        <p:spPr>
          <a:xfrm>
            <a:off x="12119081" y="6168918"/>
            <a:ext cx="2231311" cy="306258"/>
          </a:xfrm>
          <a:prstGeom prst="rect">
            <a:avLst/>
          </a:prstGeom>
          <a:noFill/>
        </p:spPr>
        <p:txBody>
          <a:bodyPr wrap="square" lIns="0" rIns="0" tIns="0" bIns="0" anchor="ctr">
            <a:spAutoFit/>
          </a:bodyPr>
          <a:lstStyle/>
          <a:p>
            <a:pPr algn="l">
              <a:spcBef>
                <a:spcPts val="0"/>
              </a:spcBef>
              <a:spcAft>
                <a:spcPts val="0"/>
              </a:spcAft>
              <a:defRPr sz="1653" b="1">
                <a:solidFill>
                  <a:srgbClr val="11234B"/>
                </a:solidFill>
                <a:latin typeface="Arial"/>
              </a:defRPr>
            </a:pPr>
            <a:r>
              <a:t>Generation</a:t>
            </a:r>
          </a:p>
        </p:txBody>
      </p:sp>
      <p:sp>
        <p:nvSpPr>
          <p:cNvPr id="223" name="Generation task examples"/>
          <p:cNvSpPr txBox="1"/>
          <p:nvPr/>
        </p:nvSpPr>
        <p:spPr>
          <a:xfrm>
            <a:off x="12119081" y="6483927"/>
            <a:ext cx="2248811" cy="262507"/>
          </a:xfrm>
          <a:prstGeom prst="rect">
            <a:avLst/>
          </a:prstGeom>
          <a:noFill/>
        </p:spPr>
        <p:txBody>
          <a:bodyPr wrap="square" lIns="0" rIns="0" tIns="0" bIns="0" anchor="ctr">
            <a:spAutoFit/>
          </a:bodyPr>
          <a:lstStyle/>
          <a:p>
            <a:pPr algn="l">
              <a:spcBef>
                <a:spcPts val="0"/>
              </a:spcBef>
              <a:spcAft>
                <a:spcPts val="0"/>
              </a:spcAft>
              <a:defRPr sz="1240" b="0">
                <a:solidFill>
                  <a:srgbClr val="40567C"/>
                </a:solidFill>
                <a:latin typeface="Arial"/>
              </a:defRPr>
            </a:pPr>
            <a:r>
              <a:t>Image reconstruction</a:t>
            </a:r>
          </a:p>
        </p:txBody>
      </p:sp>
      <p:cxnSp>
        <p:nvCxnSpPr>
          <p:cNvPr id="224" name="Legend solid arrow"/>
          <p:cNvCxnSpPr/>
          <p:nvPr/>
        </p:nvCxnSpPr>
        <p:spPr>
          <a:xfrm>
            <a:off x="11489064" y="7568956"/>
            <a:ext cx="542514" cy="0"/>
          </a:xfrm>
          <a:prstGeom prst="line">
            <a:avLst/>
          </a:prstGeom>
          <a:ln w="15875">
            <a:solidFill>
              <a:srgbClr val="11234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5" name="Legend representation label"/>
          <p:cNvSpPr txBox="1"/>
          <p:nvPr/>
        </p:nvSpPr>
        <p:spPr>
          <a:xfrm>
            <a:off x="12259085" y="7437703"/>
            <a:ext cx="2143808" cy="253756"/>
          </a:xfrm>
          <a:prstGeom prst="rect">
            <a:avLst/>
          </a:prstGeom>
          <a:noFill/>
        </p:spPr>
        <p:txBody>
          <a:bodyPr wrap="square" lIns="0" rIns="0" tIns="0" bIns="0" anchor="ctr">
            <a:spAutoFit/>
          </a:bodyPr>
          <a:lstStyle/>
          <a:p>
            <a:pPr algn="l">
              <a:spcBef>
                <a:spcPts val="0"/>
              </a:spcBef>
              <a:spcAft>
                <a:spcPts val="0"/>
              </a:spcAft>
              <a:defRPr sz="1171" b="0">
                <a:solidFill>
                  <a:srgbClr val="11234B"/>
                </a:solidFill>
                <a:latin typeface="Arial"/>
              </a:defRPr>
            </a:pPr>
            <a:r>
              <a:t>Solid: representation flow</a:t>
            </a:r>
          </a:p>
        </p:txBody>
      </p:sp>
      <p:cxnSp>
        <p:nvCxnSpPr>
          <p:cNvPr id="226" name="Legend context arrow"/>
          <p:cNvCxnSpPr/>
          <p:nvPr/>
        </p:nvCxnSpPr>
        <p:spPr>
          <a:xfrm>
            <a:off x="11489064" y="7831464"/>
            <a:ext cx="542514" cy="0"/>
          </a:xfrm>
          <a:prstGeom prst="line">
            <a:avLst/>
          </a:prstGeom>
          <a:ln w="16510">
            <a:solidFill>
              <a:srgbClr val="11234B"/>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7" name="Legend context label"/>
          <p:cNvSpPr txBox="1"/>
          <p:nvPr/>
        </p:nvSpPr>
        <p:spPr>
          <a:xfrm>
            <a:off x="12259085" y="7700210"/>
            <a:ext cx="2143808" cy="253756"/>
          </a:xfrm>
          <a:prstGeom prst="rect">
            <a:avLst/>
          </a:prstGeom>
          <a:noFill/>
        </p:spPr>
        <p:txBody>
          <a:bodyPr wrap="square" lIns="0" rIns="0" tIns="0" bIns="0" anchor="ctr">
            <a:spAutoFit/>
          </a:bodyPr>
          <a:lstStyle/>
          <a:p>
            <a:pPr algn="l">
              <a:spcBef>
                <a:spcPts val="0"/>
              </a:spcBef>
              <a:spcAft>
                <a:spcPts val="0"/>
              </a:spcAft>
              <a:defRPr sz="1171" b="0">
                <a:solidFill>
                  <a:srgbClr val="11234B"/>
                </a:solidFill>
                <a:latin typeface="Arial"/>
              </a:defRPr>
            </a:pPr>
            <a:r>
              <a:t>Dashed: optional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