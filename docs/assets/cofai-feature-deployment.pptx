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62507" y="70001"/>
            <a:ext cx="14087885" cy="595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44" b="1">
                <a:solidFill>
                  <a:srgbClr val="11234B"/>
                </a:solidFill>
                <a:latin typeface="Arial"/>
              </a:defRPr>
            </a:pPr>
            <a:r>
              <a:t>Feature Coding &amp; Deployment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262507" y="682518"/>
            <a:ext cx="14087885" cy="2625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536A88"/>
                </a:solidFill>
                <a:latin typeface="Arial"/>
              </a:defRPr>
            </a:pPr>
            <a:r>
              <a:t>Split a vision transformer, compress its intermediate tokens, and reuse the decoded features</a:t>
            </a:r>
          </a:p>
        </p:txBody>
      </p:sp>
      <p:sp>
        <p:nvSpPr>
          <p:cNvPr id="4" name="Pipeline panel"/>
          <p:cNvSpPr/>
          <p:nvPr/>
        </p:nvSpPr>
        <p:spPr>
          <a:xfrm>
            <a:off x="218755" y="1163781"/>
            <a:ext cx="14192888" cy="2572570"/>
          </a:xfrm>
          <a:prstGeom prst="roundRect">
            <a:avLst>
              <a:gd name="adj" fmla="val 3741"/>
            </a:avLst>
          </a:prstGeom>
          <a:solidFill>
            <a:srgbClr val="F8FAFD"/>
          </a:solidFill>
          <a:ln w="10795">
            <a:solidFill>
              <a:srgbClr val="CC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peline heading"/>
          <p:cNvSpPr txBox="1"/>
          <p:nvPr/>
        </p:nvSpPr>
        <p:spPr>
          <a:xfrm>
            <a:off x="420011" y="1303785"/>
            <a:ext cx="4375119" cy="245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0865AA"/>
                </a:solidFill>
                <a:latin typeface="Arial"/>
              </a:defRPr>
            </a:pPr>
            <a:r>
              <a:t>FEATURE CODING PIPELINE</a:t>
            </a:r>
          </a:p>
        </p:txBody>
      </p:sp>
      <p:sp>
        <p:nvSpPr>
          <p:cNvPr id="6" name="Image inputframe"/>
          <p:cNvSpPr/>
          <p:nvPr/>
        </p:nvSpPr>
        <p:spPr>
          <a:xfrm>
            <a:off x="420011" y="2170059"/>
            <a:ext cx="446262" cy="446262"/>
          </a:xfrm>
          <a:prstGeom prst="roundRect">
            <a:avLst>
              <a:gd name="adj" fmla="val 14000"/>
            </a:avLst>
          </a:prstGeom>
          <a:noFill/>
          <a:ln w="2159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Image inputmountain-0"/>
          <p:cNvCxnSpPr/>
          <p:nvPr/>
        </p:nvCxnSpPr>
        <p:spPr>
          <a:xfrm flipV="1">
            <a:off x="478025" y="2379802"/>
            <a:ext cx="133879" cy="156192"/>
          </a:xfrm>
          <a:prstGeom prst="line">
            <a:avLst/>
          </a:prstGeom>
          <a:ln w="1841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Image inputmountain-1"/>
          <p:cNvCxnSpPr/>
          <p:nvPr/>
        </p:nvCxnSpPr>
        <p:spPr>
          <a:xfrm>
            <a:off x="611904" y="2379802"/>
            <a:ext cx="75864" cy="84790"/>
          </a:xfrm>
          <a:prstGeom prst="line">
            <a:avLst/>
          </a:prstGeom>
          <a:ln w="1841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Image inputmountain-2"/>
          <p:cNvCxnSpPr/>
          <p:nvPr/>
        </p:nvCxnSpPr>
        <p:spPr>
          <a:xfrm flipV="1">
            <a:off x="687768" y="2370877"/>
            <a:ext cx="66940" cy="93715"/>
          </a:xfrm>
          <a:prstGeom prst="line">
            <a:avLst/>
          </a:prstGeom>
          <a:ln w="1841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Image inputmountain-3"/>
          <p:cNvCxnSpPr/>
          <p:nvPr/>
        </p:nvCxnSpPr>
        <p:spPr>
          <a:xfrm>
            <a:off x="754708" y="2370877"/>
            <a:ext cx="66939" cy="165117"/>
          </a:xfrm>
          <a:prstGeom prst="line">
            <a:avLst/>
          </a:prstGeom>
          <a:ln w="1841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mage inputsun"/>
          <p:cNvSpPr/>
          <p:nvPr/>
        </p:nvSpPr>
        <p:spPr>
          <a:xfrm>
            <a:off x="495876" y="2259311"/>
            <a:ext cx="53551" cy="53551"/>
          </a:xfrm>
          <a:prstGeom prst="ellipse">
            <a:avLst/>
          </a:prstGeom>
          <a:noFill/>
          <a:ln w="10795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mage label"/>
          <p:cNvSpPr txBox="1"/>
          <p:nvPr/>
        </p:nvSpPr>
        <p:spPr>
          <a:xfrm>
            <a:off x="306258" y="2686323"/>
            <a:ext cx="700019" cy="2625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77" b="0">
                <a:solidFill>
                  <a:srgbClr val="11234B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13" name="Optional preprocess"/>
          <p:cNvSpPr/>
          <p:nvPr/>
        </p:nvSpPr>
        <p:spPr>
          <a:xfrm>
            <a:off x="1163781" y="2065056"/>
            <a:ext cx="1076279" cy="822522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0795">
            <a:solidFill>
              <a:srgbClr val="99A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ional preprocess label"/>
          <p:cNvSpPr txBox="1"/>
          <p:nvPr/>
        </p:nvSpPr>
        <p:spPr>
          <a:xfrm>
            <a:off x="1198782" y="2082556"/>
            <a:ext cx="1006277" cy="7875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Preprocess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(optional)</a:t>
            </a:r>
          </a:p>
        </p:txBody>
      </p:sp>
      <p:sp>
        <p:nvSpPr>
          <p:cNvPr id="15" name="Frozen ViT prefix"/>
          <p:cNvSpPr/>
          <p:nvPr/>
        </p:nvSpPr>
        <p:spPr>
          <a:xfrm>
            <a:off x="2511318" y="1846300"/>
            <a:ext cx="1837550" cy="1487540"/>
          </a:xfrm>
          <a:gradFill rotWithShape="1">
            <a:gsLst>
              <a:gs pos="0">
                <a:srgbClr val="F4F9FF"/>
              </a:gs>
              <a:gs pos="100000">
                <a:srgbClr val="DCEBFB"/>
              </a:gs>
            </a:gsLst>
            <a:lin ang="5400000" scaled="1"/>
          </a:gradFill>
          <a:prstGeom prst="roundRect">
            <a:avLst>
              <a:gd name="adj" fmla="val 6470"/>
            </a:avLst>
          </a:prstGeom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ozen ViT prefix block 0"/>
          <p:cNvSpPr/>
          <p:nvPr/>
        </p:nvSpPr>
        <p:spPr>
          <a:xfrm>
            <a:off x="2651322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ozen ViT prefix block 0 label"/>
          <p:cNvSpPr txBox="1"/>
          <p:nvPr/>
        </p:nvSpPr>
        <p:spPr>
          <a:xfrm>
            <a:off x="2686323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sp>
        <p:nvSpPr>
          <p:cNvPr id="18" name="Frozen ViT prefix patchify"/>
          <p:cNvSpPr txBox="1"/>
          <p:nvPr/>
        </p:nvSpPr>
        <p:spPr>
          <a:xfrm>
            <a:off x="2686323" y="2126308"/>
            <a:ext cx="280007" cy="726269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2" b="0">
                <a:solidFill>
                  <a:srgbClr val="11234B"/>
                </a:solidFill>
                <a:latin typeface="Arial"/>
              </a:defRPr>
            </a:pPr>
            <a:r>
              <a:t>Patchify</a:t>
            </a:r>
          </a:p>
        </p:txBody>
      </p:sp>
      <p:sp>
        <p:nvSpPr>
          <p:cNvPr id="19" name="Frozen ViT prefix block 1"/>
          <p:cNvSpPr/>
          <p:nvPr/>
        </p:nvSpPr>
        <p:spPr>
          <a:xfrm>
            <a:off x="3040708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ozen ViT prefix block 1 label"/>
          <p:cNvSpPr txBox="1"/>
          <p:nvPr/>
        </p:nvSpPr>
        <p:spPr>
          <a:xfrm>
            <a:off x="3075709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sp>
        <p:nvSpPr>
          <p:cNvPr id="21" name="Frozen ViT prefix block 2"/>
          <p:cNvSpPr/>
          <p:nvPr/>
        </p:nvSpPr>
        <p:spPr>
          <a:xfrm>
            <a:off x="3430093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ozen ViT prefix block 2 label"/>
          <p:cNvSpPr txBox="1"/>
          <p:nvPr/>
        </p:nvSpPr>
        <p:spPr>
          <a:xfrm>
            <a:off x="3465094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  <a:r>
              <a:t>…</a:t>
            </a:r>
          </a:p>
        </p:txBody>
      </p:sp>
      <p:sp>
        <p:nvSpPr>
          <p:cNvPr id="23" name="Frozen ViT prefix block 3"/>
          <p:cNvSpPr/>
          <p:nvPr/>
        </p:nvSpPr>
        <p:spPr>
          <a:xfrm>
            <a:off x="3819479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ozen ViT prefix block 3 label"/>
          <p:cNvSpPr txBox="1"/>
          <p:nvPr/>
        </p:nvSpPr>
        <p:spPr>
          <a:xfrm>
            <a:off x="3854480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cxnSp>
        <p:nvCxnSpPr>
          <p:cNvPr id="25" name="Frozen ViT prefix frozen0"/>
          <p:cNvCxnSpPr/>
          <p:nvPr/>
        </p:nvCxnSpPr>
        <p:spPr>
          <a:xfrm>
            <a:off x="2655697" y="3115085"/>
            <a:ext cx="14875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Frozen ViT prefix frozen0-1-1"/>
          <p:cNvCxnSpPr/>
          <p:nvPr/>
        </p:nvCxnSpPr>
        <p:spPr>
          <a:xfrm flipV="1">
            <a:off x="2655697" y="3095279"/>
            <a:ext cx="26053" cy="1980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Frozen ViT prefix frozen0-11"/>
          <p:cNvCxnSpPr/>
          <p:nvPr/>
        </p:nvCxnSpPr>
        <p:spPr>
          <a:xfrm>
            <a:off x="2655697" y="3115085"/>
            <a:ext cx="26053" cy="1980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Frozen ViT prefix frozen01-1"/>
          <p:cNvCxnSpPr/>
          <p:nvPr/>
        </p:nvCxnSpPr>
        <p:spPr>
          <a:xfrm flipH="1">
            <a:off x="2778399" y="3115085"/>
            <a:ext cx="26052" cy="1980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Frozen ViT prefix frozen011"/>
          <p:cNvCxnSpPr/>
          <p:nvPr/>
        </p:nvCxnSpPr>
        <p:spPr>
          <a:xfrm flipH="1" flipV="1">
            <a:off x="2778399" y="3095279"/>
            <a:ext cx="26052" cy="1980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Frozen ViT prefix frozen1"/>
          <p:cNvCxnSpPr/>
          <p:nvPr/>
        </p:nvCxnSpPr>
        <p:spPr>
          <a:xfrm>
            <a:off x="2692886" y="3050672"/>
            <a:ext cx="74377" cy="128825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rozen ViT prefix frozen1-1-1"/>
          <p:cNvCxnSpPr/>
          <p:nvPr/>
        </p:nvCxnSpPr>
        <p:spPr>
          <a:xfrm>
            <a:off x="2692886" y="3050672"/>
            <a:ext cx="30178" cy="1266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Frozen ViT prefix frozen1-11"/>
          <p:cNvCxnSpPr/>
          <p:nvPr/>
        </p:nvCxnSpPr>
        <p:spPr>
          <a:xfrm flipH="1">
            <a:off x="2688760" y="3050672"/>
            <a:ext cx="4126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Frozen ViT prefix frozen11-1"/>
          <p:cNvCxnSpPr/>
          <p:nvPr/>
        </p:nvCxnSpPr>
        <p:spPr>
          <a:xfrm flipH="1" flipV="1">
            <a:off x="2737085" y="3166838"/>
            <a:ext cx="30178" cy="12659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rozen ViT prefix frozen111"/>
          <p:cNvCxnSpPr/>
          <p:nvPr/>
        </p:nvCxnSpPr>
        <p:spPr>
          <a:xfrm flipV="1">
            <a:off x="2767263" y="3147032"/>
            <a:ext cx="4125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Frozen ViT prefix frozen2"/>
          <p:cNvCxnSpPr/>
          <p:nvPr/>
        </p:nvCxnSpPr>
        <p:spPr>
          <a:xfrm flipH="1">
            <a:off x="2692886" y="3050672"/>
            <a:ext cx="74377" cy="128825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Frozen ViT prefix frozen2-1-1"/>
          <p:cNvCxnSpPr/>
          <p:nvPr/>
        </p:nvCxnSpPr>
        <p:spPr>
          <a:xfrm>
            <a:off x="2767263" y="3050672"/>
            <a:ext cx="4125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Frozen ViT prefix frozen2-11"/>
          <p:cNvCxnSpPr/>
          <p:nvPr/>
        </p:nvCxnSpPr>
        <p:spPr>
          <a:xfrm flipH="1">
            <a:off x="2737085" y="3050672"/>
            <a:ext cx="30178" cy="1266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Frozen ViT prefix frozen21-1"/>
          <p:cNvCxnSpPr/>
          <p:nvPr/>
        </p:nvCxnSpPr>
        <p:spPr>
          <a:xfrm flipH="1" flipV="1">
            <a:off x="2688760" y="3147032"/>
            <a:ext cx="4126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Frozen ViT prefix frozen211"/>
          <p:cNvCxnSpPr/>
          <p:nvPr/>
        </p:nvCxnSpPr>
        <p:spPr>
          <a:xfrm flipV="1">
            <a:off x="2692886" y="3166838"/>
            <a:ext cx="30178" cy="12659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ozen ViT prefix title"/>
          <p:cNvSpPr txBox="1"/>
          <p:nvPr/>
        </p:nvSpPr>
        <p:spPr>
          <a:xfrm>
            <a:off x="2887578" y="2966331"/>
            <a:ext cx="1400038" cy="288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46" b="1">
                <a:solidFill>
                  <a:srgbClr val="11234B"/>
                </a:solidFill>
                <a:latin typeface="Arial"/>
              </a:defRPr>
            </a:pPr>
            <a:r>
              <a:t>ViT prefix</a:t>
            </a:r>
          </a:p>
        </p:txBody>
      </p:sp>
      <p:sp>
        <p:nvSpPr>
          <p:cNvPr id="41" name="Token encoder"/>
          <p:cNvSpPr/>
          <p:nvPr/>
        </p:nvSpPr>
        <p:spPr>
          <a:xfrm>
            <a:off x="4838882" y="2065056"/>
            <a:ext cx="735020" cy="82252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3095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oken encoder label"/>
          <p:cNvSpPr txBox="1"/>
          <p:nvPr/>
        </p:nvSpPr>
        <p:spPr>
          <a:xfrm>
            <a:off x="4873883" y="2082556"/>
            <a:ext cx="665018" cy="7875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Encoder</a:t>
            </a:r>
          </a:p>
        </p:txBody>
      </p:sp>
      <p:sp>
        <p:nvSpPr>
          <p:cNvPr id="43" name="Main bitstream0"/>
          <p:cNvSpPr/>
          <p:nvPr/>
        </p:nvSpPr>
        <p:spPr>
          <a:xfrm>
            <a:off x="5818909" y="2240061"/>
            <a:ext cx="122503" cy="1015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in bitstream1"/>
          <p:cNvSpPr/>
          <p:nvPr/>
        </p:nvSpPr>
        <p:spPr>
          <a:xfrm>
            <a:off x="5818909" y="2341564"/>
            <a:ext cx="122503" cy="1015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ain bitstream2"/>
          <p:cNvSpPr/>
          <p:nvPr/>
        </p:nvSpPr>
        <p:spPr>
          <a:xfrm>
            <a:off x="5818909" y="2443066"/>
            <a:ext cx="122503" cy="1015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ain bitstream3"/>
          <p:cNvSpPr/>
          <p:nvPr/>
        </p:nvSpPr>
        <p:spPr>
          <a:xfrm>
            <a:off x="5818909" y="2544569"/>
            <a:ext cx="122503" cy="1015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in bitstream4"/>
          <p:cNvSpPr/>
          <p:nvPr/>
        </p:nvSpPr>
        <p:spPr>
          <a:xfrm>
            <a:off x="5818909" y="2646072"/>
            <a:ext cx="122503" cy="1015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oken decoder"/>
          <p:cNvSpPr/>
          <p:nvPr/>
        </p:nvSpPr>
        <p:spPr>
          <a:xfrm>
            <a:off x="6247670" y="2065056"/>
            <a:ext cx="735020" cy="82252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3095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oken decoder label"/>
          <p:cNvSpPr txBox="1"/>
          <p:nvPr/>
        </p:nvSpPr>
        <p:spPr>
          <a:xfrm>
            <a:off x="6282671" y="2082556"/>
            <a:ext cx="665018" cy="7875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Decoder</a:t>
            </a:r>
          </a:p>
        </p:txBody>
      </p:sp>
      <p:sp>
        <p:nvSpPr>
          <p:cNvPr id="50" name="Frozen ViT suffix"/>
          <p:cNvSpPr/>
          <p:nvPr/>
        </p:nvSpPr>
        <p:spPr>
          <a:xfrm>
            <a:off x="7472704" y="1846300"/>
            <a:ext cx="1837550" cy="1487540"/>
          </a:xfrm>
          <a:gradFill rotWithShape="1">
            <a:gsLst>
              <a:gs pos="0">
                <a:srgbClr val="F4F9FF"/>
              </a:gs>
              <a:gs pos="100000">
                <a:srgbClr val="DCEBFB"/>
              </a:gs>
            </a:gsLst>
            <a:lin ang="5400000" scaled="1"/>
          </a:gradFill>
          <a:prstGeom prst="roundRect">
            <a:avLst>
              <a:gd name="adj" fmla="val 6470"/>
            </a:avLst>
          </a:prstGeom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ozen ViT suffix block 0"/>
          <p:cNvSpPr/>
          <p:nvPr/>
        </p:nvSpPr>
        <p:spPr>
          <a:xfrm>
            <a:off x="7612708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ozen ViT suffix block 0 label"/>
          <p:cNvSpPr txBox="1"/>
          <p:nvPr/>
        </p:nvSpPr>
        <p:spPr>
          <a:xfrm>
            <a:off x="7647709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sp>
        <p:nvSpPr>
          <p:cNvPr id="53" name="Frozen ViT suffix block 1"/>
          <p:cNvSpPr/>
          <p:nvPr/>
        </p:nvSpPr>
        <p:spPr>
          <a:xfrm>
            <a:off x="8002093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ozen ViT suffix block 1 label"/>
          <p:cNvSpPr txBox="1"/>
          <p:nvPr/>
        </p:nvSpPr>
        <p:spPr>
          <a:xfrm>
            <a:off x="8037094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sp>
        <p:nvSpPr>
          <p:cNvPr id="55" name="Frozen ViT suffix block 2"/>
          <p:cNvSpPr/>
          <p:nvPr/>
        </p:nvSpPr>
        <p:spPr>
          <a:xfrm>
            <a:off x="8391479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ozen ViT suffix block 2 label"/>
          <p:cNvSpPr txBox="1"/>
          <p:nvPr/>
        </p:nvSpPr>
        <p:spPr>
          <a:xfrm>
            <a:off x="8426480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  <a:r>
              <a:t>…</a:t>
            </a:r>
          </a:p>
        </p:txBody>
      </p:sp>
      <p:sp>
        <p:nvSpPr>
          <p:cNvPr id="57" name="Frozen ViT suffix block 3"/>
          <p:cNvSpPr/>
          <p:nvPr/>
        </p:nvSpPr>
        <p:spPr>
          <a:xfrm>
            <a:off x="8780865" y="2091307"/>
            <a:ext cx="350009" cy="79627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879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ozen ViT suffix block 3 label"/>
          <p:cNvSpPr txBox="1"/>
          <p:nvPr/>
        </p:nvSpPr>
        <p:spPr>
          <a:xfrm>
            <a:off x="8815866" y="2108807"/>
            <a:ext cx="280007" cy="7612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</a:p>
        </p:txBody>
      </p:sp>
      <p:cxnSp>
        <p:nvCxnSpPr>
          <p:cNvPr id="59" name="Frozen ViT suffix frozen0"/>
          <p:cNvCxnSpPr/>
          <p:nvPr/>
        </p:nvCxnSpPr>
        <p:spPr>
          <a:xfrm>
            <a:off x="7617083" y="3115085"/>
            <a:ext cx="14875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Frozen ViT suffix frozen0-1-1"/>
          <p:cNvCxnSpPr/>
          <p:nvPr/>
        </p:nvCxnSpPr>
        <p:spPr>
          <a:xfrm flipV="1">
            <a:off x="7617083" y="3095279"/>
            <a:ext cx="26052" cy="1980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Frozen ViT suffix frozen0-11"/>
          <p:cNvCxnSpPr/>
          <p:nvPr/>
        </p:nvCxnSpPr>
        <p:spPr>
          <a:xfrm>
            <a:off x="7617083" y="3115085"/>
            <a:ext cx="26052" cy="1980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Frozen ViT suffix frozen01-1"/>
          <p:cNvCxnSpPr/>
          <p:nvPr/>
        </p:nvCxnSpPr>
        <p:spPr>
          <a:xfrm flipH="1">
            <a:off x="7739784" y="3115085"/>
            <a:ext cx="26053" cy="1980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Frozen ViT suffix frozen011"/>
          <p:cNvCxnSpPr/>
          <p:nvPr/>
        </p:nvCxnSpPr>
        <p:spPr>
          <a:xfrm flipH="1" flipV="1">
            <a:off x="7739784" y="3095279"/>
            <a:ext cx="26053" cy="1980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rozen ViT suffix frozen1"/>
          <p:cNvCxnSpPr/>
          <p:nvPr/>
        </p:nvCxnSpPr>
        <p:spPr>
          <a:xfrm>
            <a:off x="7654271" y="3050672"/>
            <a:ext cx="74377" cy="128825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Frozen ViT suffix frozen1-1-1"/>
          <p:cNvCxnSpPr/>
          <p:nvPr/>
        </p:nvCxnSpPr>
        <p:spPr>
          <a:xfrm>
            <a:off x="7654271" y="3050672"/>
            <a:ext cx="30178" cy="1266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Frozen ViT suffix frozen1-11"/>
          <p:cNvCxnSpPr/>
          <p:nvPr/>
        </p:nvCxnSpPr>
        <p:spPr>
          <a:xfrm flipH="1">
            <a:off x="7650146" y="3050672"/>
            <a:ext cx="4125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Frozen ViT suffix frozen11-1"/>
          <p:cNvCxnSpPr/>
          <p:nvPr/>
        </p:nvCxnSpPr>
        <p:spPr>
          <a:xfrm flipH="1" flipV="1">
            <a:off x="7698470" y="3166838"/>
            <a:ext cx="30178" cy="12659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Frozen ViT suffix frozen111"/>
          <p:cNvCxnSpPr/>
          <p:nvPr/>
        </p:nvCxnSpPr>
        <p:spPr>
          <a:xfrm flipV="1">
            <a:off x="7728648" y="3147032"/>
            <a:ext cx="4126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Frozen ViT suffix frozen2"/>
          <p:cNvCxnSpPr/>
          <p:nvPr/>
        </p:nvCxnSpPr>
        <p:spPr>
          <a:xfrm flipH="1">
            <a:off x="7654271" y="3050672"/>
            <a:ext cx="74377" cy="128825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Frozen ViT suffix frozen2-1-1"/>
          <p:cNvCxnSpPr/>
          <p:nvPr/>
        </p:nvCxnSpPr>
        <p:spPr>
          <a:xfrm>
            <a:off x="7728648" y="3050672"/>
            <a:ext cx="4126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Frozen ViT suffix frozen2-11"/>
          <p:cNvCxnSpPr/>
          <p:nvPr/>
        </p:nvCxnSpPr>
        <p:spPr>
          <a:xfrm flipH="1">
            <a:off x="7698470" y="3050672"/>
            <a:ext cx="30178" cy="1266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Frozen ViT suffix frozen21-1"/>
          <p:cNvCxnSpPr/>
          <p:nvPr/>
        </p:nvCxnSpPr>
        <p:spPr>
          <a:xfrm flipH="1" flipV="1">
            <a:off x="7650146" y="3147032"/>
            <a:ext cx="4125" cy="3246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Frozen ViT suffix frozen211"/>
          <p:cNvCxnSpPr/>
          <p:nvPr/>
        </p:nvCxnSpPr>
        <p:spPr>
          <a:xfrm flipV="1">
            <a:off x="7654271" y="3166838"/>
            <a:ext cx="30178" cy="12659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ozen ViT suffix title"/>
          <p:cNvSpPr txBox="1"/>
          <p:nvPr/>
        </p:nvSpPr>
        <p:spPr>
          <a:xfrm>
            <a:off x="7848964" y="2966331"/>
            <a:ext cx="1400038" cy="288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46" b="1">
                <a:solidFill>
                  <a:srgbClr val="11234B"/>
                </a:solidFill>
                <a:latin typeface="Arial"/>
              </a:defRPr>
            </a:pPr>
            <a:r>
              <a:t>ViT suffix</a:t>
            </a:r>
          </a:p>
        </p:txBody>
      </p:sp>
      <p:sp>
        <p:nvSpPr>
          <p:cNvPr id="75" name="Frozen task head"/>
          <p:cNvSpPr/>
          <p:nvPr/>
        </p:nvSpPr>
        <p:spPr>
          <a:xfrm>
            <a:off x="10010273" y="2065056"/>
            <a:ext cx="805022" cy="822522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 w="10795">
            <a:solidFill>
              <a:srgbClr val="99A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ozen task head label"/>
          <p:cNvSpPr txBox="1"/>
          <p:nvPr/>
        </p:nvSpPr>
        <p:spPr>
          <a:xfrm>
            <a:off x="10045274" y="2082556"/>
            <a:ext cx="735020" cy="7875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11234B"/>
                </a:solidFill>
                <a:latin typeface="Arial"/>
              </a:defRPr>
            </a:pPr>
            <a:r>
              <a:t>Head</a:t>
            </a:r>
          </a:p>
        </p:txBody>
      </p:sp>
      <p:cxnSp>
        <p:nvCxnSpPr>
          <p:cNvPr id="77" name="Head frozen0"/>
          <p:cNvCxnSpPr/>
          <p:nvPr/>
        </p:nvCxnSpPr>
        <p:spPr>
          <a:xfrm>
            <a:off x="10347157" y="2738824"/>
            <a:ext cx="13125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Head frozen0-1-1"/>
          <p:cNvCxnSpPr/>
          <p:nvPr/>
        </p:nvCxnSpPr>
        <p:spPr>
          <a:xfrm flipV="1">
            <a:off x="10347157" y="2721349"/>
            <a:ext cx="22988" cy="1747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Head frozen0-11"/>
          <p:cNvCxnSpPr/>
          <p:nvPr/>
        </p:nvCxnSpPr>
        <p:spPr>
          <a:xfrm>
            <a:off x="10347157" y="2738824"/>
            <a:ext cx="22988" cy="1747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Head frozen01-1"/>
          <p:cNvCxnSpPr/>
          <p:nvPr/>
        </p:nvCxnSpPr>
        <p:spPr>
          <a:xfrm flipH="1">
            <a:off x="10455423" y="2738824"/>
            <a:ext cx="22988" cy="1747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Head frozen011"/>
          <p:cNvCxnSpPr/>
          <p:nvPr/>
        </p:nvCxnSpPr>
        <p:spPr>
          <a:xfrm flipH="1" flipV="1">
            <a:off x="10455423" y="2721349"/>
            <a:ext cx="22988" cy="1747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Head frozen1"/>
          <p:cNvCxnSpPr/>
          <p:nvPr/>
        </p:nvCxnSpPr>
        <p:spPr>
          <a:xfrm>
            <a:off x="10379971" y="2681990"/>
            <a:ext cx="65627" cy="113669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Head frozen1-1-1"/>
          <p:cNvCxnSpPr/>
          <p:nvPr/>
        </p:nvCxnSpPr>
        <p:spPr>
          <a:xfrm>
            <a:off x="10379971" y="2681990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Head frozen1-11"/>
          <p:cNvCxnSpPr/>
          <p:nvPr/>
        </p:nvCxnSpPr>
        <p:spPr>
          <a:xfrm flipH="1">
            <a:off x="10376331" y="2681990"/>
            <a:ext cx="3640" cy="2864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Head frozen11-1"/>
          <p:cNvCxnSpPr/>
          <p:nvPr/>
        </p:nvCxnSpPr>
        <p:spPr>
          <a:xfrm flipH="1" flipV="1">
            <a:off x="10418970" y="2784489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Head frozen111"/>
          <p:cNvCxnSpPr/>
          <p:nvPr/>
        </p:nvCxnSpPr>
        <p:spPr>
          <a:xfrm flipV="1">
            <a:off x="10445598" y="2767013"/>
            <a:ext cx="3640" cy="2864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Head frozen2"/>
          <p:cNvCxnSpPr/>
          <p:nvPr/>
        </p:nvCxnSpPr>
        <p:spPr>
          <a:xfrm flipH="1">
            <a:off x="10379971" y="2681990"/>
            <a:ext cx="65627" cy="113669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Head frozen2-1-1"/>
          <p:cNvCxnSpPr/>
          <p:nvPr/>
        </p:nvCxnSpPr>
        <p:spPr>
          <a:xfrm>
            <a:off x="10445598" y="2681990"/>
            <a:ext cx="3640" cy="2864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Head frozen2-11"/>
          <p:cNvCxnSpPr/>
          <p:nvPr/>
        </p:nvCxnSpPr>
        <p:spPr>
          <a:xfrm flipH="1">
            <a:off x="10418970" y="2681990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Head frozen21-1"/>
          <p:cNvCxnSpPr/>
          <p:nvPr/>
        </p:nvCxnSpPr>
        <p:spPr>
          <a:xfrm flipH="1" flipV="1">
            <a:off x="10376331" y="2767013"/>
            <a:ext cx="3640" cy="2864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Head frozen211"/>
          <p:cNvCxnSpPr/>
          <p:nvPr/>
        </p:nvCxnSpPr>
        <p:spPr>
          <a:xfrm flipV="1">
            <a:off x="10379971" y="2784489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image to preprocess"/>
          <p:cNvCxnSpPr/>
          <p:nvPr/>
        </p:nvCxnSpPr>
        <p:spPr>
          <a:xfrm>
            <a:off x="866273" y="2476317"/>
            <a:ext cx="297508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preprocess to prefix"/>
          <p:cNvCxnSpPr/>
          <p:nvPr/>
        </p:nvCxnSpPr>
        <p:spPr>
          <a:xfrm>
            <a:off x="2240061" y="2476317"/>
            <a:ext cx="271257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prefix to encoder"/>
          <p:cNvCxnSpPr/>
          <p:nvPr/>
        </p:nvCxnSpPr>
        <p:spPr>
          <a:xfrm>
            <a:off x="4348868" y="2476317"/>
            <a:ext cx="49001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ncoder to stream"/>
          <p:cNvCxnSpPr/>
          <p:nvPr/>
        </p:nvCxnSpPr>
        <p:spPr>
          <a:xfrm>
            <a:off x="5573902" y="2476317"/>
            <a:ext cx="245007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eam to decoder"/>
          <p:cNvCxnSpPr/>
          <p:nvPr/>
        </p:nvCxnSpPr>
        <p:spPr>
          <a:xfrm>
            <a:off x="5941412" y="2476317"/>
            <a:ext cx="306258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decoder to suffix"/>
          <p:cNvCxnSpPr/>
          <p:nvPr/>
        </p:nvCxnSpPr>
        <p:spPr>
          <a:xfrm>
            <a:off x="6982690" y="2476317"/>
            <a:ext cx="49001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uffix to head"/>
          <p:cNvCxnSpPr/>
          <p:nvPr/>
        </p:nvCxnSpPr>
        <p:spPr>
          <a:xfrm>
            <a:off x="9310254" y="2476317"/>
            <a:ext cx="700019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Intermediate tokens"/>
          <p:cNvSpPr txBox="1"/>
          <p:nvPr/>
        </p:nvSpPr>
        <p:spPr>
          <a:xfrm>
            <a:off x="3972608" y="1566292"/>
            <a:ext cx="1242533" cy="245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  <a:r>
              <a:t>Features to encode</a:t>
            </a:r>
          </a:p>
        </p:txBody>
      </p:sp>
      <p:cxnSp>
        <p:nvCxnSpPr>
          <p:cNvPr id="100" name="Input feature label leader"/>
          <p:cNvCxnSpPr/>
          <p:nvPr/>
        </p:nvCxnSpPr>
        <p:spPr>
          <a:xfrm>
            <a:off x="4593875" y="1837550"/>
            <a:ext cx="0" cy="533764"/>
          </a:xfrm>
          <a:prstGeom prst="line">
            <a:avLst/>
          </a:prstGeom>
          <a:ln w="8255">
            <a:solidFill>
              <a:srgbClr val="879B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ecoded tokens"/>
          <p:cNvSpPr txBox="1"/>
          <p:nvPr/>
        </p:nvSpPr>
        <p:spPr>
          <a:xfrm>
            <a:off x="6606430" y="1566292"/>
            <a:ext cx="1242533" cy="245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3" b="0">
                <a:solidFill>
                  <a:srgbClr val="11234B"/>
                </a:solidFill>
                <a:latin typeface="Arial"/>
              </a:defRPr>
            </a:pPr>
            <a:r>
              <a:t>Decoded features</a:t>
            </a:r>
          </a:p>
        </p:txBody>
      </p:sp>
      <p:cxnSp>
        <p:nvCxnSpPr>
          <p:cNvPr id="102" name="Decoded feature label leader"/>
          <p:cNvCxnSpPr/>
          <p:nvPr/>
        </p:nvCxnSpPr>
        <p:spPr>
          <a:xfrm>
            <a:off x="7227697" y="1837550"/>
            <a:ext cx="0" cy="533764"/>
          </a:xfrm>
          <a:prstGeom prst="line">
            <a:avLst/>
          </a:prstGeom>
          <a:ln w="8255">
            <a:solidFill>
              <a:srgbClr val="879B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utput features"/>
          <p:cNvSpPr txBox="1"/>
          <p:nvPr/>
        </p:nvSpPr>
        <p:spPr>
          <a:xfrm>
            <a:off x="9336505" y="2143808"/>
            <a:ext cx="647517" cy="227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2" b="0">
                <a:solidFill>
                  <a:srgbClr val="536A88"/>
                </a:solidFill>
                <a:latin typeface="Arial"/>
              </a:defRPr>
            </a:pPr>
            <a:r>
              <a:t>features</a:t>
            </a:r>
          </a:p>
        </p:txBody>
      </p:sp>
      <p:cxnSp>
        <p:nvCxnSpPr>
          <p:cNvPr id="104" name="Head to tasks"/>
          <p:cNvCxnSpPr/>
          <p:nvPr/>
        </p:nvCxnSpPr>
        <p:spPr>
          <a:xfrm>
            <a:off x="10815295" y="2476317"/>
            <a:ext cx="105003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ask header"/>
          <p:cNvSpPr txBox="1"/>
          <p:nvPr/>
        </p:nvSpPr>
        <p:spPr>
          <a:xfrm>
            <a:off x="11112803" y="1321286"/>
            <a:ext cx="2712574" cy="245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11234B"/>
                </a:solidFill>
                <a:latin typeface="Arial"/>
              </a:defRPr>
            </a:pPr>
            <a:r>
              <a:t>TASKS</a:t>
            </a:r>
          </a:p>
        </p:txBody>
      </p:sp>
      <p:sp>
        <p:nvSpPr>
          <p:cNvPr id="106" name="Task Classification"/>
          <p:cNvSpPr/>
          <p:nvPr/>
        </p:nvSpPr>
        <p:spPr>
          <a:xfrm>
            <a:off x="10990300" y="1680045"/>
            <a:ext cx="3185087" cy="3762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C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lassification icon0"/>
          <p:cNvSpPr/>
          <p:nvPr/>
        </p:nvSpPr>
        <p:spPr>
          <a:xfrm>
            <a:off x="11121554" y="1885676"/>
            <a:ext cx="39376" cy="91877"/>
          </a:xfrm>
          <a:prstGeom prst="roundRect">
            <a:avLst>
              <a:gd name="adj" fmla="val 14000"/>
            </a:avLst>
          </a:prstGeom>
          <a:solidFill>
            <a:srgbClr val="086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lassification icon1"/>
          <p:cNvSpPr/>
          <p:nvPr/>
        </p:nvSpPr>
        <p:spPr>
          <a:xfrm>
            <a:off x="11187180" y="1828800"/>
            <a:ext cx="39376" cy="148754"/>
          </a:xfrm>
          <a:prstGeom prst="roundRect">
            <a:avLst>
              <a:gd name="adj" fmla="val 14000"/>
            </a:avLst>
          </a:prstGeom>
          <a:solidFill>
            <a:srgbClr val="086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lassification icon2"/>
          <p:cNvSpPr/>
          <p:nvPr/>
        </p:nvSpPr>
        <p:spPr>
          <a:xfrm>
            <a:off x="11252807" y="1769735"/>
            <a:ext cx="39376" cy="207818"/>
          </a:xfrm>
          <a:prstGeom prst="roundRect">
            <a:avLst>
              <a:gd name="adj" fmla="val 14000"/>
            </a:avLst>
          </a:prstGeom>
          <a:solidFill>
            <a:srgbClr val="086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lassification label"/>
          <p:cNvSpPr txBox="1"/>
          <p:nvPr/>
        </p:nvSpPr>
        <p:spPr>
          <a:xfrm>
            <a:off x="11462813" y="1715046"/>
            <a:ext cx="2572570" cy="306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11234B"/>
                </a:solidFill>
                <a:latin typeface="Arial"/>
              </a:defRPr>
            </a:pPr>
            <a:r>
              <a:t>Classification</a:t>
            </a:r>
          </a:p>
        </p:txBody>
      </p:sp>
      <p:sp>
        <p:nvSpPr>
          <p:cNvPr id="111" name="Task Segmentation"/>
          <p:cNvSpPr/>
          <p:nvPr/>
        </p:nvSpPr>
        <p:spPr>
          <a:xfrm>
            <a:off x="10990300" y="2135058"/>
            <a:ext cx="3185087" cy="3762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C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Segmentation iconlink0"/>
          <p:cNvCxnSpPr/>
          <p:nvPr/>
        </p:nvCxnSpPr>
        <p:spPr>
          <a:xfrm flipV="1">
            <a:off x="11143429" y="2231311"/>
            <a:ext cx="72190" cy="135628"/>
          </a:xfrm>
          <a:prstGeom prst="line">
            <a:avLst/>
          </a:prstGeom>
          <a:ln w="15875">
            <a:solidFill>
              <a:srgbClr val="4932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egmentation iconlink1"/>
          <p:cNvCxnSpPr/>
          <p:nvPr/>
        </p:nvCxnSpPr>
        <p:spPr>
          <a:xfrm>
            <a:off x="11215619" y="2231311"/>
            <a:ext cx="111565" cy="83127"/>
          </a:xfrm>
          <a:prstGeom prst="line">
            <a:avLst/>
          </a:prstGeom>
          <a:ln w="15875">
            <a:solidFill>
              <a:srgbClr val="4932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egmentation iconlink2"/>
          <p:cNvCxnSpPr/>
          <p:nvPr/>
        </p:nvCxnSpPr>
        <p:spPr>
          <a:xfrm flipH="1">
            <a:off x="11241869" y="2314438"/>
            <a:ext cx="85315" cy="109378"/>
          </a:xfrm>
          <a:prstGeom prst="line">
            <a:avLst/>
          </a:prstGeom>
          <a:ln w="15875">
            <a:solidFill>
              <a:srgbClr val="4932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egmentation iconlink3"/>
          <p:cNvCxnSpPr/>
          <p:nvPr/>
        </p:nvCxnSpPr>
        <p:spPr>
          <a:xfrm flipH="1" flipV="1">
            <a:off x="11143429" y="2366939"/>
            <a:ext cx="98440" cy="56877"/>
          </a:xfrm>
          <a:prstGeom prst="line">
            <a:avLst/>
          </a:prstGeom>
          <a:ln w="15875">
            <a:solidFill>
              <a:srgbClr val="4932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Segmentation icon0"/>
          <p:cNvSpPr/>
          <p:nvPr/>
        </p:nvSpPr>
        <p:spPr>
          <a:xfrm>
            <a:off x="11117178" y="2340688"/>
            <a:ext cx="52501" cy="525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932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egmentation icon1"/>
          <p:cNvSpPr/>
          <p:nvPr/>
        </p:nvSpPr>
        <p:spPr>
          <a:xfrm>
            <a:off x="11189368" y="2205060"/>
            <a:ext cx="52501" cy="525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932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egmentation icon2"/>
          <p:cNvSpPr/>
          <p:nvPr/>
        </p:nvSpPr>
        <p:spPr>
          <a:xfrm>
            <a:off x="11300933" y="2288187"/>
            <a:ext cx="52501" cy="525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932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egmentation icon3"/>
          <p:cNvSpPr/>
          <p:nvPr/>
        </p:nvSpPr>
        <p:spPr>
          <a:xfrm>
            <a:off x="11215619" y="2397565"/>
            <a:ext cx="52501" cy="525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932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egmentation label"/>
          <p:cNvSpPr txBox="1"/>
          <p:nvPr/>
        </p:nvSpPr>
        <p:spPr>
          <a:xfrm>
            <a:off x="11462813" y="2170059"/>
            <a:ext cx="2572570" cy="306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11234B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121" name="Task Reconstruction"/>
          <p:cNvSpPr/>
          <p:nvPr/>
        </p:nvSpPr>
        <p:spPr>
          <a:xfrm>
            <a:off x="10990300" y="2590070"/>
            <a:ext cx="3185087" cy="3762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C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onstruction iconframe"/>
          <p:cNvSpPr/>
          <p:nvPr/>
        </p:nvSpPr>
        <p:spPr>
          <a:xfrm>
            <a:off x="11121554" y="2668822"/>
            <a:ext cx="218755" cy="218755"/>
          </a:xfrm>
          <a:prstGeom prst="roundRect">
            <a:avLst>
              <a:gd name="adj" fmla="val 14000"/>
            </a:avLst>
          </a:prstGeom>
          <a:noFill/>
          <a:ln w="21590">
            <a:solidFill>
              <a:srgbClr val="087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Reconstruction iconmountain-0"/>
          <p:cNvCxnSpPr/>
          <p:nvPr/>
        </p:nvCxnSpPr>
        <p:spPr>
          <a:xfrm flipV="1">
            <a:off x="11149992" y="2771638"/>
            <a:ext cx="65627" cy="76564"/>
          </a:xfrm>
          <a:prstGeom prst="line">
            <a:avLst/>
          </a:prstGeom>
          <a:ln w="18415">
            <a:solidFill>
              <a:srgbClr val="08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Reconstruction iconmountain-1"/>
          <p:cNvCxnSpPr/>
          <p:nvPr/>
        </p:nvCxnSpPr>
        <p:spPr>
          <a:xfrm>
            <a:off x="11215619" y="2771638"/>
            <a:ext cx="37188" cy="41563"/>
          </a:xfrm>
          <a:prstGeom prst="line">
            <a:avLst/>
          </a:prstGeom>
          <a:ln w="18415">
            <a:solidFill>
              <a:srgbClr val="08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Reconstruction iconmountain-2"/>
          <p:cNvCxnSpPr/>
          <p:nvPr/>
        </p:nvCxnSpPr>
        <p:spPr>
          <a:xfrm flipV="1">
            <a:off x="11252807" y="2767263"/>
            <a:ext cx="32814" cy="45938"/>
          </a:xfrm>
          <a:prstGeom prst="line">
            <a:avLst/>
          </a:prstGeom>
          <a:ln w="18415">
            <a:solidFill>
              <a:srgbClr val="08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Reconstruction iconmountain-3"/>
          <p:cNvCxnSpPr/>
          <p:nvPr/>
        </p:nvCxnSpPr>
        <p:spPr>
          <a:xfrm>
            <a:off x="11285621" y="2767263"/>
            <a:ext cx="32813" cy="80939"/>
          </a:xfrm>
          <a:prstGeom prst="line">
            <a:avLst/>
          </a:prstGeom>
          <a:ln w="18415">
            <a:solidFill>
              <a:srgbClr val="08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onstruction iconsun"/>
          <p:cNvSpPr/>
          <p:nvPr/>
        </p:nvSpPr>
        <p:spPr>
          <a:xfrm>
            <a:off x="11158742" y="2712574"/>
            <a:ext cx="26250" cy="26250"/>
          </a:xfrm>
          <a:prstGeom prst="ellipse">
            <a:avLst/>
          </a:prstGeom>
          <a:noFill/>
          <a:ln w="10795">
            <a:solidFill>
              <a:srgbClr val="087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onstruction label"/>
          <p:cNvSpPr txBox="1"/>
          <p:nvPr/>
        </p:nvSpPr>
        <p:spPr>
          <a:xfrm>
            <a:off x="11462813" y="2625071"/>
            <a:ext cx="2572570" cy="306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11234B"/>
                </a:solidFill>
                <a:latin typeface="Arial"/>
              </a:defRPr>
            </a:pPr>
            <a:r>
              <a:t>Reconstruction</a:t>
            </a:r>
          </a:p>
        </p:txBody>
      </p:sp>
      <p:sp>
        <p:nvSpPr>
          <p:cNvPr id="129" name="Task Vision–LLM"/>
          <p:cNvSpPr/>
          <p:nvPr/>
        </p:nvSpPr>
        <p:spPr>
          <a:xfrm>
            <a:off x="10990300" y="3045083"/>
            <a:ext cx="3185087" cy="3762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C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sion–LLM iconbody"/>
          <p:cNvSpPr/>
          <p:nvPr/>
        </p:nvSpPr>
        <p:spPr>
          <a:xfrm>
            <a:off x="11143429" y="3150086"/>
            <a:ext cx="175004" cy="188130"/>
          </a:xfrm>
          <a:prstGeom prst="roundRect">
            <a:avLst>
              <a:gd name="adj" fmla="val 14000"/>
            </a:avLst>
          </a:prstGeom>
          <a:noFill/>
          <a:ln w="2286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sion–LLM icontab"/>
          <p:cNvSpPr/>
          <p:nvPr/>
        </p:nvSpPr>
        <p:spPr>
          <a:xfrm>
            <a:off x="11191555" y="3123835"/>
            <a:ext cx="78752" cy="4375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Vision–LLM icon-rule0"/>
          <p:cNvCxnSpPr/>
          <p:nvPr/>
        </p:nvCxnSpPr>
        <p:spPr>
          <a:xfrm>
            <a:off x="11176243" y="3211337"/>
            <a:ext cx="109378" cy="0"/>
          </a:xfrm>
          <a:prstGeom prst="line">
            <a:avLst/>
          </a:prstGeom>
          <a:ln w="21590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Vision–LLM icon-rule1"/>
          <p:cNvCxnSpPr/>
          <p:nvPr/>
        </p:nvCxnSpPr>
        <p:spPr>
          <a:xfrm>
            <a:off x="11176243" y="3246338"/>
            <a:ext cx="109378" cy="0"/>
          </a:xfrm>
          <a:prstGeom prst="line">
            <a:avLst/>
          </a:prstGeom>
          <a:ln w="21590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Vision–LLM icon-rule2"/>
          <p:cNvCxnSpPr/>
          <p:nvPr/>
        </p:nvCxnSpPr>
        <p:spPr>
          <a:xfrm>
            <a:off x="11176243" y="3281339"/>
            <a:ext cx="109378" cy="0"/>
          </a:xfrm>
          <a:prstGeom prst="line">
            <a:avLst/>
          </a:prstGeom>
          <a:ln w="21590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Vision–LLM label"/>
          <p:cNvSpPr txBox="1"/>
          <p:nvPr/>
        </p:nvSpPr>
        <p:spPr>
          <a:xfrm>
            <a:off x="11462813" y="3080084"/>
            <a:ext cx="2572570" cy="306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1">
                <a:solidFill>
                  <a:srgbClr val="11234B"/>
                </a:solidFill>
                <a:latin typeface="Arial"/>
              </a:defRPr>
            </a:pPr>
            <a:r>
              <a:t>Vision–LLM</a:t>
            </a:r>
          </a:p>
        </p:txBody>
      </p:sp>
      <p:cxnSp>
        <p:nvCxnSpPr>
          <p:cNvPr id="136" name="Legend frozen0"/>
          <p:cNvCxnSpPr/>
          <p:nvPr/>
        </p:nvCxnSpPr>
        <p:spPr>
          <a:xfrm>
            <a:off x="380635" y="3508845"/>
            <a:ext cx="131253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Legend frozen0-1-1"/>
          <p:cNvCxnSpPr/>
          <p:nvPr/>
        </p:nvCxnSpPr>
        <p:spPr>
          <a:xfrm flipV="1">
            <a:off x="380635" y="3491370"/>
            <a:ext cx="22987" cy="1747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Legend frozen0-11"/>
          <p:cNvCxnSpPr/>
          <p:nvPr/>
        </p:nvCxnSpPr>
        <p:spPr>
          <a:xfrm>
            <a:off x="380635" y="3508845"/>
            <a:ext cx="22987" cy="1747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Legend frozen01-1"/>
          <p:cNvCxnSpPr/>
          <p:nvPr/>
        </p:nvCxnSpPr>
        <p:spPr>
          <a:xfrm flipH="1">
            <a:off x="488901" y="3508845"/>
            <a:ext cx="22987" cy="1747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Legend frozen011"/>
          <p:cNvCxnSpPr/>
          <p:nvPr/>
        </p:nvCxnSpPr>
        <p:spPr>
          <a:xfrm flipH="1" flipV="1">
            <a:off x="488901" y="3491370"/>
            <a:ext cx="22987" cy="1747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Legend frozen1"/>
          <p:cNvCxnSpPr/>
          <p:nvPr/>
        </p:nvCxnSpPr>
        <p:spPr>
          <a:xfrm>
            <a:off x="413448" y="3452011"/>
            <a:ext cx="65627" cy="113669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Legend frozen1-1-1"/>
          <p:cNvCxnSpPr/>
          <p:nvPr/>
        </p:nvCxnSpPr>
        <p:spPr>
          <a:xfrm>
            <a:off x="413448" y="3452011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Legend frozen1-11"/>
          <p:cNvCxnSpPr/>
          <p:nvPr/>
        </p:nvCxnSpPr>
        <p:spPr>
          <a:xfrm flipH="1">
            <a:off x="409808" y="3452011"/>
            <a:ext cx="3640" cy="2864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Legend frozen11-1"/>
          <p:cNvCxnSpPr/>
          <p:nvPr/>
        </p:nvCxnSpPr>
        <p:spPr>
          <a:xfrm flipH="1" flipV="1">
            <a:off x="452447" y="3554510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Legend frozen111"/>
          <p:cNvCxnSpPr/>
          <p:nvPr/>
        </p:nvCxnSpPr>
        <p:spPr>
          <a:xfrm flipV="1">
            <a:off x="479075" y="3537034"/>
            <a:ext cx="3640" cy="2864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Legend frozen2"/>
          <p:cNvCxnSpPr/>
          <p:nvPr/>
        </p:nvCxnSpPr>
        <p:spPr>
          <a:xfrm flipH="1">
            <a:off x="413448" y="3452011"/>
            <a:ext cx="65627" cy="113669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Legend frozen2-1-1"/>
          <p:cNvCxnSpPr/>
          <p:nvPr/>
        </p:nvCxnSpPr>
        <p:spPr>
          <a:xfrm>
            <a:off x="479075" y="3452011"/>
            <a:ext cx="3640" cy="2864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Legend frozen2-11"/>
          <p:cNvCxnSpPr/>
          <p:nvPr/>
        </p:nvCxnSpPr>
        <p:spPr>
          <a:xfrm flipH="1">
            <a:off x="452447" y="3452011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Legend frozen21-1"/>
          <p:cNvCxnSpPr/>
          <p:nvPr/>
        </p:nvCxnSpPr>
        <p:spPr>
          <a:xfrm flipH="1" flipV="1">
            <a:off x="409808" y="3537034"/>
            <a:ext cx="3640" cy="2864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Legend frozen211"/>
          <p:cNvCxnSpPr/>
          <p:nvPr/>
        </p:nvCxnSpPr>
        <p:spPr>
          <a:xfrm flipV="1">
            <a:off x="413448" y="3554510"/>
            <a:ext cx="26628" cy="1117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ozen legend"/>
          <p:cNvSpPr txBox="1"/>
          <p:nvPr/>
        </p:nvSpPr>
        <p:spPr>
          <a:xfrm>
            <a:off x="603766" y="3395092"/>
            <a:ext cx="2362564" cy="245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1" b="0">
                <a:solidFill>
                  <a:srgbClr val="536A88"/>
                </a:solidFill>
                <a:latin typeface="Arial"/>
              </a:defRPr>
            </a:pPr>
            <a:r>
              <a:t>Frozen model weights</a:t>
            </a:r>
          </a:p>
        </p:txBody>
      </p:sp>
      <p:sp>
        <p:nvSpPr>
          <p:cNvPr id="152" name="Transmission panel"/>
          <p:cNvSpPr/>
          <p:nvPr/>
        </p:nvSpPr>
        <p:spPr>
          <a:xfrm>
            <a:off x="218755" y="4060111"/>
            <a:ext cx="6930189" cy="3928857"/>
          </a:xfrm>
          <a:gradFill rotWithShape="1">
            <a:gsLst>
              <a:gs pos="0">
                <a:srgbClr val="F8FBFF"/>
              </a:gs>
              <a:gs pos="100000">
                <a:srgbClr val="EDF6FF"/>
              </a:gs>
            </a:gsLst>
            <a:lin ang="5400000" scaled="1"/>
          </a:gradFill>
          <a:prstGeom prst="roundRect">
            <a:avLst>
              <a:gd name="adj" fmla="val 2449"/>
            </a:avLst>
          </a:prstGeom>
          <a:ln w="10795">
            <a:solidFill>
              <a:srgbClr val="9AC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torage panel"/>
          <p:cNvSpPr/>
          <p:nvPr/>
        </p:nvSpPr>
        <p:spPr>
          <a:xfrm>
            <a:off x="7358951" y="4060111"/>
            <a:ext cx="7052692" cy="3928857"/>
          </a:xfrm>
          <a:gradFill rotWithShape="1">
            <a:gsLst>
              <a:gs pos="0">
                <a:srgbClr val="F8FCFA"/>
              </a:gs>
              <a:gs pos="100000">
                <a:srgbClr val="E9F6F0"/>
              </a:gs>
            </a:gsLst>
            <a:lin ang="5400000" scaled="1"/>
          </a:gradFill>
          <a:prstGeom prst="roundRect">
            <a:avLst>
              <a:gd name="adj" fmla="val 2449"/>
            </a:avLst>
          </a:prstGeom>
          <a:ln w="10795">
            <a:solidFill>
              <a:srgbClr val="8CC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Transmission heading iconlink0"/>
          <p:cNvCxnSpPr/>
          <p:nvPr/>
        </p:nvCxnSpPr>
        <p:spPr>
          <a:xfrm flipV="1">
            <a:off x="457637" y="4319468"/>
            <a:ext cx="95290" cy="179029"/>
          </a:xfrm>
          <a:prstGeom prst="line">
            <a:avLst/>
          </a:prstGeom>
          <a:ln w="1587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Transmission heading iconlink1"/>
          <p:cNvCxnSpPr/>
          <p:nvPr/>
        </p:nvCxnSpPr>
        <p:spPr>
          <a:xfrm>
            <a:off x="552927" y="4319468"/>
            <a:ext cx="147267" cy="109728"/>
          </a:xfrm>
          <a:prstGeom prst="line">
            <a:avLst/>
          </a:prstGeom>
          <a:ln w="1587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Transmission heading iconlink2"/>
          <p:cNvCxnSpPr/>
          <p:nvPr/>
        </p:nvCxnSpPr>
        <p:spPr>
          <a:xfrm flipH="1">
            <a:off x="587578" y="4429196"/>
            <a:ext cx="112616" cy="144379"/>
          </a:xfrm>
          <a:prstGeom prst="line">
            <a:avLst/>
          </a:prstGeom>
          <a:ln w="1587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Transmission heading iconlink3"/>
          <p:cNvCxnSpPr/>
          <p:nvPr/>
        </p:nvCxnSpPr>
        <p:spPr>
          <a:xfrm flipH="1" flipV="1">
            <a:off x="457637" y="4498497"/>
            <a:ext cx="129941" cy="75078"/>
          </a:xfrm>
          <a:prstGeom prst="line">
            <a:avLst/>
          </a:prstGeom>
          <a:ln w="1587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ransmission heading icon0"/>
          <p:cNvSpPr/>
          <p:nvPr/>
        </p:nvSpPr>
        <p:spPr>
          <a:xfrm>
            <a:off x="422986" y="4463847"/>
            <a:ext cx="69301" cy="693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ransmission heading icon1"/>
          <p:cNvSpPr/>
          <p:nvPr/>
        </p:nvSpPr>
        <p:spPr>
          <a:xfrm>
            <a:off x="518276" y="4284817"/>
            <a:ext cx="69301" cy="693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ransmission heading icon2"/>
          <p:cNvSpPr/>
          <p:nvPr/>
        </p:nvSpPr>
        <p:spPr>
          <a:xfrm>
            <a:off x="665543" y="4394545"/>
            <a:ext cx="69301" cy="693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ransmission heading icon3"/>
          <p:cNvSpPr/>
          <p:nvPr/>
        </p:nvSpPr>
        <p:spPr>
          <a:xfrm>
            <a:off x="552927" y="4538924"/>
            <a:ext cx="69301" cy="69301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ransmission title"/>
          <p:cNvSpPr txBox="1"/>
          <p:nvPr/>
        </p:nvSpPr>
        <p:spPr>
          <a:xfrm>
            <a:off x="866273" y="4235115"/>
            <a:ext cx="5950162" cy="411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98" b="1">
                <a:solidFill>
                  <a:srgbClr val="0865AA"/>
                </a:solidFill>
                <a:latin typeface="Arial"/>
              </a:defRPr>
            </a:pPr>
            <a:r>
              <a:t>Transmission Oriented</a:t>
            </a:r>
          </a:p>
        </p:txBody>
      </p:sp>
      <p:sp>
        <p:nvSpPr>
          <p:cNvPr id="163" name="Transmission intro"/>
          <p:cNvSpPr txBox="1"/>
          <p:nvPr/>
        </p:nvSpPr>
        <p:spPr>
          <a:xfrm>
            <a:off x="428761" y="4698878"/>
            <a:ext cx="6492677" cy="2625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0">
                <a:solidFill>
                  <a:srgbClr val="536A88"/>
                </a:solidFill>
                <a:latin typeface="Arial"/>
              </a:defRPr>
            </a:pPr>
            <a:r>
              <a:t>Send compact tokens from the edge for cloud analysis</a:t>
            </a:r>
          </a:p>
        </p:txBody>
      </p:sp>
      <p:sp>
        <p:nvSpPr>
          <p:cNvPr id="164" name="Storage heading icon"/>
          <p:cNvSpPr/>
          <p:nvPr/>
        </p:nvSpPr>
        <p:spPr>
          <a:custGeom>
            <a:avLst/>
            <a:gdLst/>
            <a:ahLst/>
            <a:cxnLst/>
            <a:rect l="0" t="0" r="r" b="b"/>
            <a:pathLst>
              <a:path w="1000" h="1000" fill="none" stroke="1" extrusionOk="0">
                <a:moveTo>
                  <a:pt x="70" y="165"/>
                </a:moveTo>
                <a:cubicBezTo>
                  <a:pt x="70" y="25"/>
                  <a:pt x="900" y="25"/>
                  <a:pt x="900" y="165"/>
                </a:cubicBezTo>
                <a:cubicBezTo>
                  <a:pt x="900" y="325"/>
                  <a:pt x="70" y="325"/>
                  <a:pt x="70" y="165"/>
                </a:cubicBezTo>
                <a:lnTo>
                  <a:pt x="70" y="805"/>
                </a:lnTo>
                <a:cubicBezTo>
                  <a:pt x="70" y="980"/>
                  <a:pt x="900" y="980"/>
                  <a:pt x="900" y="805"/>
                </a:cubicBezTo>
                <a:lnTo>
                  <a:pt x="900" y="165"/>
                </a:lnTo>
                <a:moveTo>
                  <a:pt x="70" y="460"/>
                </a:moveTo>
                <a:cubicBezTo>
                  <a:pt x="70" y="620"/>
                  <a:pt x="900" y="620"/>
                  <a:pt x="900" y="460"/>
                </a:cubicBezTo>
                <a:moveTo>
                  <a:pt x="70" y="670"/>
                </a:moveTo>
                <a:cubicBezTo>
                  <a:pt x="70" y="830"/>
                  <a:pt x="900" y="830"/>
                  <a:pt x="900" y="670"/>
                </a:cubicBezTo>
              </a:path>
            </a:pathLst>
          </a:custGeom>
          <a:xfrm>
            <a:off x="7568956" y="4296367"/>
            <a:ext cx="288757" cy="288757"/>
          </a:xfrm>
          <a:noFill/>
          <a:ln w="22860">
            <a:solidFill>
              <a:srgbClr val="087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orage title"/>
          <p:cNvSpPr txBox="1"/>
          <p:nvPr/>
        </p:nvSpPr>
        <p:spPr>
          <a:xfrm>
            <a:off x="8006468" y="4235115"/>
            <a:ext cx="5993913" cy="411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98" b="1">
                <a:solidFill>
                  <a:srgbClr val="087D70"/>
                </a:solidFill>
                <a:latin typeface="Arial"/>
              </a:defRPr>
            </a:pPr>
            <a:r>
              <a:t>Storage Oriented</a:t>
            </a:r>
          </a:p>
        </p:txBody>
      </p:sp>
      <p:sp>
        <p:nvSpPr>
          <p:cNvPr id="166" name="Storage intro"/>
          <p:cNvSpPr txBox="1"/>
          <p:nvPr/>
        </p:nvSpPr>
        <p:spPr>
          <a:xfrm>
            <a:off x="7568956" y="4698878"/>
            <a:ext cx="6475177" cy="2625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77" b="0">
                <a:solidFill>
                  <a:srgbClr val="536A88"/>
                </a:solidFill>
                <a:latin typeface="Arial"/>
              </a:defRPr>
            </a:pPr>
            <a:r>
              <a:t>Store compact tokens and reuse them across tasks</a:t>
            </a:r>
          </a:p>
        </p:txBody>
      </p:sp>
      <p:sp>
        <p:nvSpPr>
          <p:cNvPr id="167" name="Transmission Edge"/>
          <p:cNvSpPr/>
          <p:nvPr/>
        </p:nvSpPr>
        <p:spPr>
          <a:xfrm>
            <a:off x="420011" y="5538901"/>
            <a:ext cx="2257561" cy="127753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ge heading"/>
          <p:cNvSpPr txBox="1"/>
          <p:nvPr/>
        </p:nvSpPr>
        <p:spPr>
          <a:xfrm>
            <a:off x="551265" y="5276394"/>
            <a:ext cx="2012555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0865AA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169" name="Edge preprocess"/>
          <p:cNvSpPr/>
          <p:nvPr/>
        </p:nvSpPr>
        <p:spPr>
          <a:xfrm>
            <a:off x="533764" y="5757657"/>
            <a:ext cx="717519" cy="831272"/>
          </a:xfrm>
          <a:prstGeom prst="roundRect">
            <a:avLst>
              <a:gd name="adj" fmla="val 13414"/>
            </a:avLst>
          </a:prstGeom>
          <a:solidFill>
            <a:srgbClr val="F8FAFD"/>
          </a:solidFill>
          <a:ln w="10795">
            <a:solidFill>
              <a:srgbClr val="A6B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ge preprocess label"/>
          <p:cNvSpPr txBox="1"/>
          <p:nvPr/>
        </p:nvSpPr>
        <p:spPr>
          <a:xfrm>
            <a:off x="568765" y="5775157"/>
            <a:ext cx="647517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Pre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171" name="Edge prefix"/>
          <p:cNvSpPr/>
          <p:nvPr/>
        </p:nvSpPr>
        <p:spPr>
          <a:xfrm>
            <a:off x="1356287" y="5757657"/>
            <a:ext cx="542514" cy="831272"/>
          </a:xfrm>
          <a:prstGeom prst="roundRect">
            <a:avLst>
              <a:gd name="adj" fmla="val 14000"/>
            </a:avLst>
          </a:prstGeom>
          <a:solidFill>
            <a:srgbClr val="E7F2FF"/>
          </a:solidFill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ge prefix label"/>
          <p:cNvSpPr txBox="1"/>
          <p:nvPr/>
        </p:nvSpPr>
        <p:spPr>
          <a:xfrm>
            <a:off x="1391288" y="5775157"/>
            <a:ext cx="472512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1" b="0">
                <a:solidFill>
                  <a:srgbClr val="11234B"/>
                </a:solidFill>
                <a:latin typeface="Arial"/>
              </a:defRPr>
            </a:pPr>
            <a:r>
              <a:t>ViT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71" b="0">
                <a:solidFill>
                  <a:srgbClr val="11234B"/>
                </a:solidFill>
                <a:latin typeface="Arial"/>
              </a:defRPr>
            </a:pPr>
            <a:r>
              <a:t>prefix</a:t>
            </a:r>
          </a:p>
        </p:txBody>
      </p:sp>
      <p:sp>
        <p:nvSpPr>
          <p:cNvPr id="173" name="Edge encoder"/>
          <p:cNvSpPr/>
          <p:nvPr/>
        </p:nvSpPr>
        <p:spPr>
          <a:xfrm>
            <a:off x="2030055" y="5757657"/>
            <a:ext cx="542514" cy="83127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4000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ge encoder label"/>
          <p:cNvSpPr txBox="1"/>
          <p:nvPr/>
        </p:nvSpPr>
        <p:spPr>
          <a:xfrm>
            <a:off x="2065056" y="5775157"/>
            <a:ext cx="472512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Enc</a:t>
            </a:r>
          </a:p>
        </p:txBody>
      </p:sp>
      <p:cxnSp>
        <p:nvCxnSpPr>
          <p:cNvPr id="175" name="Edge prefix frozen0"/>
          <p:cNvCxnSpPr/>
          <p:nvPr/>
        </p:nvCxnSpPr>
        <p:spPr>
          <a:xfrm>
            <a:off x="1566292" y="6466426"/>
            <a:ext cx="12250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Edge prefix frozen0-1-1"/>
          <p:cNvCxnSpPr/>
          <p:nvPr/>
        </p:nvCxnSpPr>
        <p:spPr>
          <a:xfrm flipV="1">
            <a:off x="1566292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Edge prefix frozen0-11"/>
          <p:cNvCxnSpPr/>
          <p:nvPr/>
        </p:nvCxnSpPr>
        <p:spPr>
          <a:xfrm>
            <a:off x="1566292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Edge prefix frozen01-1"/>
          <p:cNvCxnSpPr/>
          <p:nvPr/>
        </p:nvCxnSpPr>
        <p:spPr>
          <a:xfrm flipH="1">
            <a:off x="1667341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dge prefix frozen011"/>
          <p:cNvCxnSpPr/>
          <p:nvPr/>
        </p:nvCxnSpPr>
        <p:spPr>
          <a:xfrm flipH="1" flipV="1">
            <a:off x="1667341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dge prefix frozen1"/>
          <p:cNvCxnSpPr/>
          <p:nvPr/>
        </p:nvCxnSpPr>
        <p:spPr>
          <a:xfrm>
            <a:off x="1596918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Edge prefix frozen1-1-1"/>
          <p:cNvCxnSpPr/>
          <p:nvPr/>
        </p:nvCxnSpPr>
        <p:spPr>
          <a:xfrm>
            <a:off x="1596918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dge prefix frozen1-11"/>
          <p:cNvCxnSpPr/>
          <p:nvPr/>
        </p:nvCxnSpPr>
        <p:spPr>
          <a:xfrm flipH="1">
            <a:off x="1593521" y="6413381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Edge prefix frozen11-1"/>
          <p:cNvCxnSpPr/>
          <p:nvPr/>
        </p:nvCxnSpPr>
        <p:spPr>
          <a:xfrm flipH="1" flipV="1">
            <a:off x="1633317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dge prefix frozen111"/>
          <p:cNvCxnSpPr/>
          <p:nvPr/>
        </p:nvCxnSpPr>
        <p:spPr>
          <a:xfrm flipV="1">
            <a:off x="1658170" y="6492736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dge prefix frozen2"/>
          <p:cNvCxnSpPr/>
          <p:nvPr/>
        </p:nvCxnSpPr>
        <p:spPr>
          <a:xfrm flipH="1">
            <a:off x="1596918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Edge prefix frozen2-1-1"/>
          <p:cNvCxnSpPr/>
          <p:nvPr/>
        </p:nvCxnSpPr>
        <p:spPr>
          <a:xfrm>
            <a:off x="1658170" y="6413381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Edge prefix frozen2-11"/>
          <p:cNvCxnSpPr/>
          <p:nvPr/>
        </p:nvCxnSpPr>
        <p:spPr>
          <a:xfrm flipH="1">
            <a:off x="1633317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dge prefix frozen21-1"/>
          <p:cNvCxnSpPr/>
          <p:nvPr/>
        </p:nvCxnSpPr>
        <p:spPr>
          <a:xfrm flipH="1" flipV="1">
            <a:off x="1593521" y="6492736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dge prefix frozen211"/>
          <p:cNvCxnSpPr/>
          <p:nvPr/>
        </p:nvCxnSpPr>
        <p:spPr>
          <a:xfrm flipV="1">
            <a:off x="1596918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dge preprocessing to prefix"/>
          <p:cNvCxnSpPr/>
          <p:nvPr/>
        </p:nvCxnSpPr>
        <p:spPr>
          <a:xfrm>
            <a:off x="1251284" y="6168918"/>
            <a:ext cx="105003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dge prefix to enc"/>
          <p:cNvCxnSpPr/>
          <p:nvPr/>
        </p:nvCxnSpPr>
        <p:spPr>
          <a:xfrm>
            <a:off x="1898801" y="6168918"/>
            <a:ext cx="13125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ransmit heading"/>
          <p:cNvSpPr txBox="1"/>
          <p:nvPr/>
        </p:nvSpPr>
        <p:spPr>
          <a:xfrm>
            <a:off x="2756325" y="5276394"/>
            <a:ext cx="1032528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1" b="1">
                <a:solidFill>
                  <a:srgbClr val="0865AA"/>
                </a:solidFill>
                <a:latin typeface="Arial"/>
              </a:defRPr>
            </a:pPr>
            <a:r>
              <a:t>TRANSMIT</a:t>
            </a:r>
          </a:p>
        </p:txBody>
      </p:sp>
      <p:sp>
        <p:nvSpPr>
          <p:cNvPr id="193" name="Transmission channel"/>
          <p:cNvSpPr/>
          <p:nvPr/>
        </p:nvSpPr>
        <p:spPr>
          <a:xfrm>
            <a:off x="2878828" y="5652654"/>
            <a:ext cx="752520" cy="1050028"/>
          </a:xfrm>
          <a:prstGeom prst="roundRect">
            <a:avLst>
              <a:gd name="adj" fmla="val 12790"/>
            </a:avLst>
          </a:prstGeom>
          <a:solidFill>
            <a:srgbClr val="FFFFFF"/>
          </a:solidFill>
          <a:ln w="10795">
            <a:solidFill>
              <a:srgbClr val="A6B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ransmit stream0"/>
          <p:cNvSpPr/>
          <p:nvPr/>
        </p:nvSpPr>
        <p:spPr>
          <a:xfrm>
            <a:off x="3010082" y="5976413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ransmit stream1"/>
          <p:cNvSpPr/>
          <p:nvPr/>
        </p:nvSpPr>
        <p:spPr>
          <a:xfrm>
            <a:off x="3010082" y="6053415"/>
            <a:ext cx="122503" cy="770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ransmit stream2"/>
          <p:cNvSpPr/>
          <p:nvPr/>
        </p:nvSpPr>
        <p:spPr>
          <a:xfrm>
            <a:off x="3010082" y="6130417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ransmit stream3"/>
          <p:cNvSpPr/>
          <p:nvPr/>
        </p:nvSpPr>
        <p:spPr>
          <a:xfrm>
            <a:off x="3010082" y="6207419"/>
            <a:ext cx="122503" cy="770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ransmit stream4"/>
          <p:cNvSpPr/>
          <p:nvPr/>
        </p:nvSpPr>
        <p:spPr>
          <a:xfrm>
            <a:off x="3010082" y="6284421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Wireless antenna-0"/>
          <p:cNvCxnSpPr/>
          <p:nvPr/>
        </p:nvCxnSpPr>
        <p:spPr>
          <a:xfrm flipV="1">
            <a:off x="3281339" y="6037665"/>
            <a:ext cx="113753" cy="332509"/>
          </a:xfrm>
          <a:prstGeom prst="line">
            <a:avLst/>
          </a:prstGeom>
          <a:ln w="19050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Wireless antenna-1"/>
          <p:cNvCxnSpPr/>
          <p:nvPr/>
        </p:nvCxnSpPr>
        <p:spPr>
          <a:xfrm>
            <a:off x="3395092" y="6037665"/>
            <a:ext cx="113753" cy="332509"/>
          </a:xfrm>
          <a:prstGeom prst="line">
            <a:avLst/>
          </a:prstGeom>
          <a:ln w="19050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Wireless crossbar"/>
          <p:cNvCxnSpPr/>
          <p:nvPr/>
        </p:nvCxnSpPr>
        <p:spPr>
          <a:xfrm>
            <a:off x="3307590" y="6282671"/>
            <a:ext cx="175005" cy="0"/>
          </a:xfrm>
          <a:prstGeom prst="line">
            <a:avLst/>
          </a:prstGeom>
          <a:ln w="15875">
            <a:solidFill>
              <a:srgbClr val="0865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Wireless signal"/>
          <p:cNvSpPr/>
          <p:nvPr/>
        </p:nvSpPr>
        <p:spPr>
          <a:custGeom>
            <a:avLst/>
            <a:gdLst/>
            <a:ahLst/>
            <a:cxnLst/>
            <a:rect l="0" t="0" r="r" b="b"/>
            <a:pathLst>
              <a:path w="1000" h="1000" fill="none" stroke="1" extrusionOk="0">
                <a:moveTo>
                  <a:pt x="380" y="580"/>
                </a:moveTo>
                <a:cubicBezTo>
                  <a:pt x="120" y="410"/>
                  <a:pt x="130" y="160"/>
                  <a:pt x="360" y="40"/>
                </a:cubicBezTo>
                <a:moveTo>
                  <a:pt x="620" y="580"/>
                </a:moveTo>
                <a:cubicBezTo>
                  <a:pt x="880" y="410"/>
                  <a:pt x="870" y="160"/>
                  <a:pt x="640" y="40"/>
                </a:cubicBezTo>
              </a:path>
            </a:pathLst>
          </a:custGeom>
          <a:xfrm>
            <a:off x="3281339" y="5915161"/>
            <a:ext cx="227506" cy="227506"/>
          </a:xfrm>
          <a:noFill/>
          <a:ln w="22860">
            <a:solidFill>
              <a:srgbClr val="086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Edge to channel"/>
          <p:cNvCxnSpPr/>
          <p:nvPr/>
        </p:nvCxnSpPr>
        <p:spPr>
          <a:xfrm>
            <a:off x="2677573" y="6168918"/>
            <a:ext cx="201255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ransmission cloud"/>
          <p:cNvSpPr/>
          <p:nvPr/>
        </p:nvSpPr>
        <p:spPr>
          <a:xfrm>
            <a:off x="3832604" y="5538901"/>
            <a:ext cx="3080084" cy="127753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loud heading"/>
          <p:cNvSpPr txBox="1"/>
          <p:nvPr/>
        </p:nvSpPr>
        <p:spPr>
          <a:xfrm>
            <a:off x="3946357" y="5276394"/>
            <a:ext cx="1925052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0865AA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06" name="Cloud decoder"/>
          <p:cNvSpPr/>
          <p:nvPr/>
        </p:nvSpPr>
        <p:spPr>
          <a:xfrm>
            <a:off x="3937607" y="5757657"/>
            <a:ext cx="577515" cy="83127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4000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loud decoder label"/>
          <p:cNvSpPr txBox="1"/>
          <p:nvPr/>
        </p:nvSpPr>
        <p:spPr>
          <a:xfrm>
            <a:off x="3972608" y="5775157"/>
            <a:ext cx="507513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Dec</a:t>
            </a:r>
          </a:p>
        </p:txBody>
      </p:sp>
      <p:sp>
        <p:nvSpPr>
          <p:cNvPr id="208" name="Cloud suffix"/>
          <p:cNvSpPr/>
          <p:nvPr/>
        </p:nvSpPr>
        <p:spPr>
          <a:xfrm>
            <a:off x="4663877" y="5757657"/>
            <a:ext cx="1400038" cy="831272"/>
          </a:xfrm>
          <a:prstGeom prst="roundRect">
            <a:avLst>
              <a:gd name="adj" fmla="val 11578"/>
            </a:avLst>
          </a:prstGeom>
          <a:solidFill>
            <a:srgbClr val="E7F2FF"/>
          </a:solidFill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Cloud suffix label"/>
          <p:cNvSpPr txBox="1"/>
          <p:nvPr/>
        </p:nvSpPr>
        <p:spPr>
          <a:xfrm>
            <a:off x="4698878" y="5775157"/>
            <a:ext cx="1330036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ViT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suffix</a:t>
            </a:r>
          </a:p>
        </p:txBody>
      </p:sp>
      <p:sp>
        <p:nvSpPr>
          <p:cNvPr id="210" name="Cloud head"/>
          <p:cNvSpPr/>
          <p:nvPr/>
        </p:nvSpPr>
        <p:spPr>
          <a:xfrm>
            <a:off x="6203919" y="5757657"/>
            <a:ext cx="551265" cy="831272"/>
          </a:xfrm>
          <a:prstGeom prst="roundRect">
            <a:avLst>
              <a:gd name="adj" fmla="val 14000"/>
            </a:avLst>
          </a:prstGeom>
          <a:solidFill>
            <a:srgbClr val="F8FAFD"/>
          </a:solidFill>
          <a:ln w="10795">
            <a:solidFill>
              <a:srgbClr val="A6B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loud head label"/>
          <p:cNvSpPr txBox="1"/>
          <p:nvPr/>
        </p:nvSpPr>
        <p:spPr>
          <a:xfrm>
            <a:off x="6238920" y="5775157"/>
            <a:ext cx="481263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Head</a:t>
            </a:r>
          </a:p>
        </p:txBody>
      </p:sp>
      <p:cxnSp>
        <p:nvCxnSpPr>
          <p:cNvPr id="212" name="Cloud suffix frozen0"/>
          <p:cNvCxnSpPr/>
          <p:nvPr/>
        </p:nvCxnSpPr>
        <p:spPr>
          <a:xfrm>
            <a:off x="5302644" y="6466426"/>
            <a:ext cx="12250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loud suffix frozen0-1-1"/>
          <p:cNvCxnSpPr/>
          <p:nvPr/>
        </p:nvCxnSpPr>
        <p:spPr>
          <a:xfrm flipV="1">
            <a:off x="5302644" y="6450116"/>
            <a:ext cx="21456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oud suffix frozen0-11"/>
          <p:cNvCxnSpPr/>
          <p:nvPr/>
        </p:nvCxnSpPr>
        <p:spPr>
          <a:xfrm>
            <a:off x="5302644" y="6466426"/>
            <a:ext cx="21456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oud suffix frozen01-1"/>
          <p:cNvCxnSpPr/>
          <p:nvPr/>
        </p:nvCxnSpPr>
        <p:spPr>
          <a:xfrm flipH="1">
            <a:off x="5403693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loud suffix frozen011"/>
          <p:cNvCxnSpPr/>
          <p:nvPr/>
        </p:nvCxnSpPr>
        <p:spPr>
          <a:xfrm flipH="1" flipV="1">
            <a:off x="5403693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loud suffix frozen1"/>
          <p:cNvCxnSpPr/>
          <p:nvPr/>
        </p:nvCxnSpPr>
        <p:spPr>
          <a:xfrm>
            <a:off x="5333270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loud suffix frozen1-1-1"/>
          <p:cNvCxnSpPr/>
          <p:nvPr/>
        </p:nvCxnSpPr>
        <p:spPr>
          <a:xfrm>
            <a:off x="5333270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loud suffix frozen1-11"/>
          <p:cNvCxnSpPr/>
          <p:nvPr/>
        </p:nvCxnSpPr>
        <p:spPr>
          <a:xfrm flipH="1">
            <a:off x="5329873" y="6413381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loud suffix frozen11-1"/>
          <p:cNvCxnSpPr/>
          <p:nvPr/>
        </p:nvCxnSpPr>
        <p:spPr>
          <a:xfrm flipH="1" flipV="1">
            <a:off x="5369669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loud suffix frozen111"/>
          <p:cNvCxnSpPr/>
          <p:nvPr/>
        </p:nvCxnSpPr>
        <p:spPr>
          <a:xfrm flipV="1">
            <a:off x="5394522" y="6492736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loud suffix frozen2"/>
          <p:cNvCxnSpPr/>
          <p:nvPr/>
        </p:nvCxnSpPr>
        <p:spPr>
          <a:xfrm flipH="1">
            <a:off x="5333270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loud suffix frozen2-1-1"/>
          <p:cNvCxnSpPr/>
          <p:nvPr/>
        </p:nvCxnSpPr>
        <p:spPr>
          <a:xfrm>
            <a:off x="5394522" y="6413381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loud suffix frozen2-11"/>
          <p:cNvCxnSpPr/>
          <p:nvPr/>
        </p:nvCxnSpPr>
        <p:spPr>
          <a:xfrm flipH="1">
            <a:off x="5369669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loud suffix frozen21-1"/>
          <p:cNvCxnSpPr/>
          <p:nvPr/>
        </p:nvCxnSpPr>
        <p:spPr>
          <a:xfrm flipH="1" flipV="1">
            <a:off x="5329873" y="6492736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loud suffix frozen211"/>
          <p:cNvCxnSpPr/>
          <p:nvPr/>
        </p:nvCxnSpPr>
        <p:spPr>
          <a:xfrm flipV="1">
            <a:off x="5333270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loud head frozen0"/>
          <p:cNvCxnSpPr/>
          <p:nvPr/>
        </p:nvCxnSpPr>
        <p:spPr>
          <a:xfrm>
            <a:off x="6413925" y="6466426"/>
            <a:ext cx="122503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loud head frozen0-1-1"/>
          <p:cNvCxnSpPr/>
          <p:nvPr/>
        </p:nvCxnSpPr>
        <p:spPr>
          <a:xfrm flipV="1">
            <a:off x="6413925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loud head frozen0-11"/>
          <p:cNvCxnSpPr/>
          <p:nvPr/>
        </p:nvCxnSpPr>
        <p:spPr>
          <a:xfrm>
            <a:off x="6413925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loud head frozen01-1"/>
          <p:cNvCxnSpPr/>
          <p:nvPr/>
        </p:nvCxnSpPr>
        <p:spPr>
          <a:xfrm flipH="1">
            <a:off x="6514973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loud head frozen011"/>
          <p:cNvCxnSpPr/>
          <p:nvPr/>
        </p:nvCxnSpPr>
        <p:spPr>
          <a:xfrm flipH="1" flipV="1">
            <a:off x="6514973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loud head frozen1"/>
          <p:cNvCxnSpPr/>
          <p:nvPr/>
        </p:nvCxnSpPr>
        <p:spPr>
          <a:xfrm>
            <a:off x="6444551" y="6413381"/>
            <a:ext cx="61251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loud head frozen1-1-1"/>
          <p:cNvCxnSpPr/>
          <p:nvPr/>
        </p:nvCxnSpPr>
        <p:spPr>
          <a:xfrm>
            <a:off x="6444551" y="6413381"/>
            <a:ext cx="24852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loud head frozen1-11"/>
          <p:cNvCxnSpPr/>
          <p:nvPr/>
        </p:nvCxnSpPr>
        <p:spPr>
          <a:xfrm flipH="1">
            <a:off x="6441153" y="6413381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loud head frozen11-1"/>
          <p:cNvCxnSpPr/>
          <p:nvPr/>
        </p:nvCxnSpPr>
        <p:spPr>
          <a:xfrm flipH="1" flipV="1">
            <a:off x="6480950" y="6509046"/>
            <a:ext cx="24852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loud head frozen111"/>
          <p:cNvCxnSpPr/>
          <p:nvPr/>
        </p:nvCxnSpPr>
        <p:spPr>
          <a:xfrm flipV="1">
            <a:off x="6505802" y="6492736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loud head frozen2"/>
          <p:cNvCxnSpPr/>
          <p:nvPr/>
        </p:nvCxnSpPr>
        <p:spPr>
          <a:xfrm flipH="1">
            <a:off x="6444551" y="6413381"/>
            <a:ext cx="61251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loud head frozen2-1-1"/>
          <p:cNvCxnSpPr/>
          <p:nvPr/>
        </p:nvCxnSpPr>
        <p:spPr>
          <a:xfrm>
            <a:off x="6505802" y="6413381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loud head frozen2-11"/>
          <p:cNvCxnSpPr/>
          <p:nvPr/>
        </p:nvCxnSpPr>
        <p:spPr>
          <a:xfrm flipH="1">
            <a:off x="6480950" y="6413381"/>
            <a:ext cx="24852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loud head frozen21-1"/>
          <p:cNvCxnSpPr/>
          <p:nvPr/>
        </p:nvCxnSpPr>
        <p:spPr>
          <a:xfrm flipH="1" flipV="1">
            <a:off x="6441153" y="6492736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loud head frozen211"/>
          <p:cNvCxnSpPr/>
          <p:nvPr/>
        </p:nvCxnSpPr>
        <p:spPr>
          <a:xfrm flipV="1">
            <a:off x="6444551" y="6509046"/>
            <a:ext cx="24852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Transmit to cloud"/>
          <p:cNvCxnSpPr/>
          <p:nvPr/>
        </p:nvCxnSpPr>
        <p:spPr>
          <a:xfrm>
            <a:off x="3631349" y="6168918"/>
            <a:ext cx="306258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loud dec to suffix"/>
          <p:cNvCxnSpPr/>
          <p:nvPr/>
        </p:nvCxnSpPr>
        <p:spPr>
          <a:xfrm>
            <a:off x="4515123" y="6168918"/>
            <a:ext cx="14875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loud suffix to head"/>
          <p:cNvCxnSpPr/>
          <p:nvPr/>
        </p:nvCxnSpPr>
        <p:spPr>
          <a:xfrm>
            <a:off x="6063915" y="6168918"/>
            <a:ext cx="14000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Cloud outcome"/>
          <p:cNvSpPr txBox="1"/>
          <p:nvPr/>
        </p:nvSpPr>
        <p:spPr>
          <a:xfrm>
            <a:off x="3946357" y="6842687"/>
            <a:ext cx="2843827" cy="297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>
                <a:solidFill>
                  <a:srgbClr val="0865AA"/>
                </a:solidFill>
                <a:latin typeface="Arial"/>
              </a:defRPr>
            </a:pPr>
            <a:r>
              <a:t>Cloud analysis</a:t>
            </a:r>
          </a:p>
        </p:txBody>
      </p:sp>
      <p:sp>
        <p:nvSpPr>
          <p:cNvPr id="246" name="Transmission caption"/>
          <p:cNvSpPr/>
          <p:nvPr/>
        </p:nvSpPr>
        <p:spPr>
          <a:xfrm>
            <a:off x="428761" y="7350200"/>
            <a:ext cx="6501427" cy="41126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ransmission characteristics"/>
          <p:cNvSpPr txBox="1"/>
          <p:nvPr/>
        </p:nvSpPr>
        <p:spPr>
          <a:xfrm>
            <a:off x="551265" y="7393952"/>
            <a:ext cx="6247670" cy="31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0865AA"/>
                </a:solidFill>
                <a:latin typeface="Arial"/>
              </a:defRPr>
            </a:pPr>
            <a:r>
              <a:t>Shallow split · Task-specific · One-time use</a:t>
            </a:r>
          </a:p>
        </p:txBody>
      </p:sp>
      <p:sp>
        <p:nvSpPr>
          <p:cNvPr id="248" name="Storage source cloud"/>
          <p:cNvSpPr/>
          <p:nvPr/>
        </p:nvSpPr>
        <p:spPr>
          <a:xfrm>
            <a:off x="7560206" y="5538901"/>
            <a:ext cx="2345064" cy="127753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torage source heading"/>
          <p:cNvSpPr txBox="1"/>
          <p:nvPr/>
        </p:nvSpPr>
        <p:spPr>
          <a:xfrm>
            <a:off x="7682710" y="5276394"/>
            <a:ext cx="2205060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087D70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50" name="Storage prefix"/>
          <p:cNvSpPr/>
          <p:nvPr/>
        </p:nvSpPr>
        <p:spPr>
          <a:xfrm>
            <a:off x="7656459" y="5757657"/>
            <a:ext cx="1400038" cy="831272"/>
          </a:xfrm>
          <a:prstGeom prst="roundRect">
            <a:avLst>
              <a:gd name="adj" fmla="val 11578"/>
            </a:avLst>
          </a:prstGeom>
          <a:solidFill>
            <a:srgbClr val="E7F2FF"/>
          </a:solidFill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torage prefix label"/>
          <p:cNvSpPr txBox="1"/>
          <p:nvPr/>
        </p:nvSpPr>
        <p:spPr>
          <a:xfrm>
            <a:off x="7691460" y="5775157"/>
            <a:ext cx="1330036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ViT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prefix</a:t>
            </a:r>
          </a:p>
        </p:txBody>
      </p:sp>
      <p:sp>
        <p:nvSpPr>
          <p:cNvPr id="252" name="Storage encoder"/>
          <p:cNvSpPr/>
          <p:nvPr/>
        </p:nvSpPr>
        <p:spPr>
          <a:xfrm>
            <a:off x="9196501" y="5757657"/>
            <a:ext cx="603766" cy="83127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4000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torage encoder label"/>
          <p:cNvSpPr txBox="1"/>
          <p:nvPr/>
        </p:nvSpPr>
        <p:spPr>
          <a:xfrm>
            <a:off x="9231502" y="5775157"/>
            <a:ext cx="533764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Enc</a:t>
            </a:r>
          </a:p>
        </p:txBody>
      </p:sp>
      <p:cxnSp>
        <p:nvCxnSpPr>
          <p:cNvPr id="254" name="Storage prefix frozen0"/>
          <p:cNvCxnSpPr/>
          <p:nvPr/>
        </p:nvCxnSpPr>
        <p:spPr>
          <a:xfrm>
            <a:off x="8295226" y="6466426"/>
            <a:ext cx="122504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orage prefix frozen0-1-1"/>
          <p:cNvCxnSpPr/>
          <p:nvPr/>
        </p:nvCxnSpPr>
        <p:spPr>
          <a:xfrm flipV="1">
            <a:off x="8295226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orage prefix frozen0-11"/>
          <p:cNvCxnSpPr/>
          <p:nvPr/>
        </p:nvCxnSpPr>
        <p:spPr>
          <a:xfrm>
            <a:off x="8295226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orage prefix frozen01-1"/>
          <p:cNvCxnSpPr/>
          <p:nvPr/>
        </p:nvCxnSpPr>
        <p:spPr>
          <a:xfrm flipH="1">
            <a:off x="8396275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orage prefix frozen011"/>
          <p:cNvCxnSpPr/>
          <p:nvPr/>
        </p:nvCxnSpPr>
        <p:spPr>
          <a:xfrm flipH="1" flipV="1">
            <a:off x="8396275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orage prefix frozen1"/>
          <p:cNvCxnSpPr/>
          <p:nvPr/>
        </p:nvCxnSpPr>
        <p:spPr>
          <a:xfrm>
            <a:off x="8325852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orage prefix frozen1-1-1"/>
          <p:cNvCxnSpPr/>
          <p:nvPr/>
        </p:nvCxnSpPr>
        <p:spPr>
          <a:xfrm>
            <a:off x="8325852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orage prefix frozen1-11"/>
          <p:cNvCxnSpPr/>
          <p:nvPr/>
        </p:nvCxnSpPr>
        <p:spPr>
          <a:xfrm flipH="1">
            <a:off x="8322455" y="6413381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orage prefix frozen11-1"/>
          <p:cNvCxnSpPr/>
          <p:nvPr/>
        </p:nvCxnSpPr>
        <p:spPr>
          <a:xfrm flipH="1" flipV="1">
            <a:off x="8362251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orage prefix frozen111"/>
          <p:cNvCxnSpPr/>
          <p:nvPr/>
        </p:nvCxnSpPr>
        <p:spPr>
          <a:xfrm flipV="1">
            <a:off x="8387104" y="6492736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orage prefix frozen2"/>
          <p:cNvCxnSpPr/>
          <p:nvPr/>
        </p:nvCxnSpPr>
        <p:spPr>
          <a:xfrm flipH="1">
            <a:off x="8325852" y="6413381"/>
            <a:ext cx="61252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orage prefix frozen2-1-1"/>
          <p:cNvCxnSpPr/>
          <p:nvPr/>
        </p:nvCxnSpPr>
        <p:spPr>
          <a:xfrm>
            <a:off x="8387104" y="6413381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orage prefix frozen2-11"/>
          <p:cNvCxnSpPr/>
          <p:nvPr/>
        </p:nvCxnSpPr>
        <p:spPr>
          <a:xfrm flipH="1">
            <a:off x="8362251" y="6413381"/>
            <a:ext cx="24853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orage prefix frozen21-1"/>
          <p:cNvCxnSpPr/>
          <p:nvPr/>
        </p:nvCxnSpPr>
        <p:spPr>
          <a:xfrm flipH="1" flipV="1">
            <a:off x="8322455" y="6492736"/>
            <a:ext cx="3397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orage prefix frozen211"/>
          <p:cNvCxnSpPr/>
          <p:nvPr/>
        </p:nvCxnSpPr>
        <p:spPr>
          <a:xfrm flipV="1">
            <a:off x="8325852" y="6509046"/>
            <a:ext cx="24853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orage prefix to encoder"/>
          <p:cNvCxnSpPr/>
          <p:nvPr/>
        </p:nvCxnSpPr>
        <p:spPr>
          <a:xfrm>
            <a:off x="9056497" y="6168918"/>
            <a:ext cx="14000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Storage channel"/>
          <p:cNvSpPr/>
          <p:nvPr/>
        </p:nvSpPr>
        <p:spPr>
          <a:xfrm>
            <a:off x="10071525" y="5652654"/>
            <a:ext cx="875023" cy="105002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795">
            <a:solidFill>
              <a:srgbClr val="9AA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torage heading"/>
          <p:cNvSpPr txBox="1"/>
          <p:nvPr/>
        </p:nvSpPr>
        <p:spPr>
          <a:xfrm>
            <a:off x="9975272" y="5276394"/>
            <a:ext cx="1076279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1" b="1">
                <a:solidFill>
                  <a:srgbClr val="087D70"/>
                </a:solidFill>
                <a:latin typeface="Arial"/>
              </a:defRPr>
            </a:pPr>
            <a:r>
              <a:t>STORAGE</a:t>
            </a:r>
          </a:p>
        </p:txBody>
      </p:sp>
      <p:sp>
        <p:nvSpPr>
          <p:cNvPr id="272" name="Stored tokens"/>
          <p:cNvSpPr/>
          <p:nvPr/>
        </p:nvSpPr>
        <p:spPr>
          <a:custGeom>
            <a:avLst/>
            <a:gdLst/>
            <a:ahLst/>
            <a:cxnLst/>
            <a:rect l="0" t="0" r="r" b="b"/>
            <a:pathLst>
              <a:path w="1000" h="1000" fill="none" stroke="1" extrusionOk="0">
                <a:moveTo>
                  <a:pt x="70" y="165"/>
                </a:moveTo>
                <a:cubicBezTo>
                  <a:pt x="70" y="25"/>
                  <a:pt x="900" y="25"/>
                  <a:pt x="900" y="165"/>
                </a:cubicBezTo>
                <a:cubicBezTo>
                  <a:pt x="900" y="325"/>
                  <a:pt x="70" y="325"/>
                  <a:pt x="70" y="165"/>
                </a:cubicBezTo>
                <a:lnTo>
                  <a:pt x="70" y="805"/>
                </a:lnTo>
                <a:cubicBezTo>
                  <a:pt x="70" y="980"/>
                  <a:pt x="900" y="980"/>
                  <a:pt x="900" y="805"/>
                </a:cubicBezTo>
                <a:lnTo>
                  <a:pt x="900" y="165"/>
                </a:lnTo>
                <a:moveTo>
                  <a:pt x="70" y="460"/>
                </a:moveTo>
                <a:cubicBezTo>
                  <a:pt x="70" y="620"/>
                  <a:pt x="900" y="620"/>
                  <a:pt x="900" y="460"/>
                </a:cubicBezTo>
                <a:moveTo>
                  <a:pt x="70" y="670"/>
                </a:moveTo>
                <a:cubicBezTo>
                  <a:pt x="70" y="830"/>
                  <a:pt x="900" y="830"/>
                  <a:pt x="900" y="670"/>
                </a:cubicBezTo>
              </a:path>
            </a:pathLst>
          </a:custGeom>
          <a:xfrm>
            <a:off x="10482786" y="6011414"/>
            <a:ext cx="315008" cy="315008"/>
          </a:xfrm>
          <a:noFill/>
          <a:ln w="22860">
            <a:solidFill>
              <a:srgbClr val="087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tored bitstream0"/>
          <p:cNvSpPr/>
          <p:nvPr/>
        </p:nvSpPr>
        <p:spPr>
          <a:xfrm>
            <a:off x="10220279" y="5976413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tored bitstream1"/>
          <p:cNvSpPr/>
          <p:nvPr/>
        </p:nvSpPr>
        <p:spPr>
          <a:xfrm>
            <a:off x="10220279" y="6053415"/>
            <a:ext cx="122503" cy="770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tored bitstream2"/>
          <p:cNvSpPr/>
          <p:nvPr/>
        </p:nvSpPr>
        <p:spPr>
          <a:xfrm>
            <a:off x="10220279" y="6130417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tored bitstream3"/>
          <p:cNvSpPr/>
          <p:nvPr/>
        </p:nvSpPr>
        <p:spPr>
          <a:xfrm>
            <a:off x="10220279" y="6207419"/>
            <a:ext cx="122503" cy="77002"/>
          </a:xfrm>
          <a:prstGeom prst="rect">
            <a:avLst/>
          </a:prstGeom>
          <a:solidFill>
            <a:srgbClr val="FFFFFF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tored bitstream4"/>
          <p:cNvSpPr/>
          <p:nvPr/>
        </p:nvSpPr>
        <p:spPr>
          <a:xfrm>
            <a:off x="10220279" y="6284421"/>
            <a:ext cx="122503" cy="77002"/>
          </a:xfrm>
          <a:prstGeom prst="rect">
            <a:avLst/>
          </a:prstGeom>
          <a:solidFill>
            <a:srgbClr val="11234B"/>
          </a:solidFill>
          <a:ln w="8255">
            <a:solidFill>
              <a:srgbClr val="11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loud to storage"/>
          <p:cNvCxnSpPr/>
          <p:nvPr/>
        </p:nvCxnSpPr>
        <p:spPr>
          <a:xfrm>
            <a:off x="9905270" y="6168918"/>
            <a:ext cx="166255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use decoder group"/>
          <p:cNvSpPr/>
          <p:nvPr/>
        </p:nvSpPr>
        <p:spPr>
          <a:xfrm>
            <a:off x="11069052" y="5538901"/>
            <a:ext cx="1496290" cy="127753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use decoder"/>
          <p:cNvSpPr/>
          <p:nvPr/>
        </p:nvSpPr>
        <p:spPr>
          <a:xfrm>
            <a:off x="11165305" y="5757657"/>
            <a:ext cx="568765" cy="831272"/>
          </a:xfrm>
          <a:gradFill rotWithShape="1">
            <a:gsLst>
              <a:gs pos="0">
                <a:srgbClr val="FAF8FE"/>
              </a:gs>
              <a:gs pos="100000">
                <a:srgbClr val="E9DEF4"/>
              </a:gs>
            </a:gsLst>
            <a:lin ang="5400000" scaled="1"/>
          </a:gradFill>
          <a:prstGeom prst="roundRect">
            <a:avLst>
              <a:gd name="adj" fmla="val 14000"/>
            </a:avLst>
          </a:prstGeom>
          <a:ln w="10795">
            <a:solidFill>
              <a:srgbClr val="A99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use decoder label"/>
          <p:cNvSpPr txBox="1"/>
          <p:nvPr/>
        </p:nvSpPr>
        <p:spPr>
          <a:xfrm>
            <a:off x="11200306" y="5775157"/>
            <a:ext cx="498763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9" b="0">
                <a:solidFill>
                  <a:srgbClr val="11234B"/>
                </a:solidFill>
                <a:latin typeface="Arial"/>
              </a:defRPr>
            </a:pPr>
            <a:r>
              <a:t>Dec</a:t>
            </a:r>
          </a:p>
        </p:txBody>
      </p:sp>
      <p:sp>
        <p:nvSpPr>
          <p:cNvPr id="282" name="Reuse suffix"/>
          <p:cNvSpPr/>
          <p:nvPr/>
        </p:nvSpPr>
        <p:spPr>
          <a:xfrm>
            <a:off x="11874074" y="5757657"/>
            <a:ext cx="542514" cy="831272"/>
          </a:xfrm>
          <a:prstGeom prst="roundRect">
            <a:avLst>
              <a:gd name="adj" fmla="val 14000"/>
            </a:avLst>
          </a:prstGeom>
          <a:solidFill>
            <a:srgbClr val="E7F2FF"/>
          </a:solidFill>
          <a:ln w="10795">
            <a:solidFill>
              <a:srgbClr val="7DA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use suffix label"/>
          <p:cNvSpPr txBox="1"/>
          <p:nvPr/>
        </p:nvSpPr>
        <p:spPr>
          <a:xfrm>
            <a:off x="11909075" y="5775157"/>
            <a:ext cx="472512" cy="796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1" b="0">
                <a:solidFill>
                  <a:srgbClr val="11234B"/>
                </a:solidFill>
                <a:latin typeface="Arial"/>
              </a:defRPr>
            </a:pPr>
            <a:r>
              <a:t>ViT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71" b="0">
                <a:solidFill>
                  <a:srgbClr val="11234B"/>
                </a:solidFill>
                <a:latin typeface="Arial"/>
              </a:defRPr>
            </a:pPr>
            <a:r>
              <a:t>suffix</a:t>
            </a:r>
          </a:p>
        </p:txBody>
      </p:sp>
      <p:cxnSp>
        <p:nvCxnSpPr>
          <p:cNvPr id="284" name="Reuse suffix frozen0"/>
          <p:cNvCxnSpPr/>
          <p:nvPr/>
        </p:nvCxnSpPr>
        <p:spPr>
          <a:xfrm>
            <a:off x="12084080" y="6466426"/>
            <a:ext cx="122503" cy="0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Reuse suffix frozen0-1-1"/>
          <p:cNvCxnSpPr/>
          <p:nvPr/>
        </p:nvCxnSpPr>
        <p:spPr>
          <a:xfrm flipV="1">
            <a:off x="12084080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Reuse suffix frozen0-11"/>
          <p:cNvCxnSpPr/>
          <p:nvPr/>
        </p:nvCxnSpPr>
        <p:spPr>
          <a:xfrm>
            <a:off x="12084080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Reuse suffix frozen01-1"/>
          <p:cNvCxnSpPr/>
          <p:nvPr/>
        </p:nvCxnSpPr>
        <p:spPr>
          <a:xfrm flipH="1">
            <a:off x="12185128" y="6466426"/>
            <a:ext cx="21455" cy="16311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Reuse suffix frozen011"/>
          <p:cNvCxnSpPr/>
          <p:nvPr/>
        </p:nvCxnSpPr>
        <p:spPr>
          <a:xfrm flipH="1" flipV="1">
            <a:off x="12185128" y="6450116"/>
            <a:ext cx="21455" cy="16310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Reuse suffix frozen1"/>
          <p:cNvCxnSpPr/>
          <p:nvPr/>
        </p:nvCxnSpPr>
        <p:spPr>
          <a:xfrm>
            <a:off x="12114706" y="6413381"/>
            <a:ext cx="61251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Reuse suffix frozen1-1-1"/>
          <p:cNvCxnSpPr/>
          <p:nvPr/>
        </p:nvCxnSpPr>
        <p:spPr>
          <a:xfrm>
            <a:off x="12114706" y="6413381"/>
            <a:ext cx="24852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Reuse suffix frozen1-11"/>
          <p:cNvCxnSpPr/>
          <p:nvPr/>
        </p:nvCxnSpPr>
        <p:spPr>
          <a:xfrm flipH="1">
            <a:off x="12111308" y="6413381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Reuse suffix frozen11-1"/>
          <p:cNvCxnSpPr/>
          <p:nvPr/>
        </p:nvCxnSpPr>
        <p:spPr>
          <a:xfrm flipH="1" flipV="1">
            <a:off x="12151105" y="6509046"/>
            <a:ext cx="24852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Reuse suffix frozen111"/>
          <p:cNvCxnSpPr/>
          <p:nvPr/>
        </p:nvCxnSpPr>
        <p:spPr>
          <a:xfrm flipV="1">
            <a:off x="12175957" y="6492736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Reuse suffix frozen2"/>
          <p:cNvCxnSpPr/>
          <p:nvPr/>
        </p:nvCxnSpPr>
        <p:spPr>
          <a:xfrm flipH="1">
            <a:off x="12114706" y="6413381"/>
            <a:ext cx="61251" cy="106091"/>
          </a:xfrm>
          <a:prstGeom prst="line">
            <a:avLst/>
          </a:prstGeom>
          <a:ln w="1524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Reuse suffix frozen2-1-1"/>
          <p:cNvCxnSpPr/>
          <p:nvPr/>
        </p:nvCxnSpPr>
        <p:spPr>
          <a:xfrm>
            <a:off x="12175957" y="6413381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Reuse suffix frozen2-11"/>
          <p:cNvCxnSpPr/>
          <p:nvPr/>
        </p:nvCxnSpPr>
        <p:spPr>
          <a:xfrm flipH="1">
            <a:off x="12151105" y="6413381"/>
            <a:ext cx="24852" cy="10425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Reuse suffix frozen21-1"/>
          <p:cNvCxnSpPr/>
          <p:nvPr/>
        </p:nvCxnSpPr>
        <p:spPr>
          <a:xfrm flipH="1" flipV="1">
            <a:off x="12111308" y="6492736"/>
            <a:ext cx="3398" cy="2673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Reuse suffix frozen211"/>
          <p:cNvCxnSpPr/>
          <p:nvPr/>
        </p:nvCxnSpPr>
        <p:spPr>
          <a:xfrm flipV="1">
            <a:off x="12114706" y="6509046"/>
            <a:ext cx="24852" cy="10426"/>
          </a:xfrm>
          <a:prstGeom prst="line">
            <a:avLst/>
          </a:prstGeom>
          <a:ln w="12700">
            <a:solidFill>
              <a:srgbClr val="62A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orage to decoder"/>
          <p:cNvCxnSpPr/>
          <p:nvPr/>
        </p:nvCxnSpPr>
        <p:spPr>
          <a:xfrm>
            <a:off x="10946549" y="6168918"/>
            <a:ext cx="218756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Reuse decoder to suffix"/>
          <p:cNvCxnSpPr/>
          <p:nvPr/>
        </p:nvCxnSpPr>
        <p:spPr>
          <a:xfrm>
            <a:off x="11734070" y="6168918"/>
            <a:ext cx="140004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Edge task destination"/>
          <p:cNvSpPr/>
          <p:nvPr/>
        </p:nvSpPr>
        <p:spPr>
          <a:xfrm>
            <a:off x="12819100" y="5355146"/>
            <a:ext cx="1373787" cy="700019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Cloud VLM destination"/>
          <p:cNvSpPr/>
          <p:nvPr/>
        </p:nvSpPr>
        <p:spPr>
          <a:xfrm>
            <a:off x="12819100" y="6431425"/>
            <a:ext cx="1373787" cy="700019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0795">
            <a:solidFill>
              <a:srgbClr val="9AA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ge destination heading"/>
          <p:cNvSpPr txBox="1"/>
          <p:nvPr/>
        </p:nvSpPr>
        <p:spPr>
          <a:xfrm>
            <a:off x="12915353" y="5092639"/>
            <a:ext cx="1181282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1" b="1">
                <a:solidFill>
                  <a:srgbClr val="087D70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304" name="Cloud destination heading"/>
          <p:cNvSpPr txBox="1"/>
          <p:nvPr/>
        </p:nvSpPr>
        <p:spPr>
          <a:xfrm>
            <a:off x="12915353" y="6168918"/>
            <a:ext cx="1181282" cy="236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1" b="1">
                <a:solidFill>
                  <a:srgbClr val="087D70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305" name="Edge task head"/>
          <p:cNvSpPr/>
          <p:nvPr/>
        </p:nvSpPr>
        <p:spPr>
          <a:xfrm>
            <a:off x="12915353" y="5451399"/>
            <a:ext cx="507513" cy="507513"/>
          </a:xfrm>
          <a:prstGeom prst="roundRect">
            <a:avLst>
              <a:gd name="adj" fmla="val 14000"/>
            </a:avLst>
          </a:prstGeom>
          <a:solidFill>
            <a:srgbClr val="F8FAFD"/>
          </a:solidFill>
          <a:ln w="10795">
            <a:solidFill>
              <a:srgbClr val="A6B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ge task head label"/>
          <p:cNvSpPr txBox="1"/>
          <p:nvPr/>
        </p:nvSpPr>
        <p:spPr>
          <a:xfrm>
            <a:off x="12950354" y="5468899"/>
            <a:ext cx="437511" cy="47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307" name="Edge task outcome"/>
          <p:cNvSpPr txBox="1"/>
          <p:nvPr/>
        </p:nvSpPr>
        <p:spPr>
          <a:xfrm>
            <a:off x="13484118" y="5407647"/>
            <a:ext cx="647517" cy="5687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2" b="0">
                <a:solidFill>
                  <a:srgbClr val="11234B"/>
                </a:solidFill>
                <a:latin typeface="Arial"/>
              </a:defRPr>
            </a:pPr>
            <a:r>
              <a:t>Machine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2" b="0">
                <a:solidFill>
                  <a:srgbClr val="11234B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08" name="Cloud LLM"/>
          <p:cNvSpPr/>
          <p:nvPr/>
        </p:nvSpPr>
        <p:spPr>
          <a:xfrm>
            <a:off x="12915353" y="6527678"/>
            <a:ext cx="507513" cy="507513"/>
          </a:xfrm>
          <a:prstGeom prst="roundRect">
            <a:avLst>
              <a:gd name="adj" fmla="val 14000"/>
            </a:avLst>
          </a:prstGeom>
          <a:solidFill>
            <a:srgbClr val="F8FAFD"/>
          </a:solidFill>
          <a:ln w="10795">
            <a:solidFill>
              <a:srgbClr val="A6B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loud LLM label"/>
          <p:cNvSpPr txBox="1"/>
          <p:nvPr/>
        </p:nvSpPr>
        <p:spPr>
          <a:xfrm>
            <a:off x="12950354" y="6545178"/>
            <a:ext cx="437511" cy="47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1234B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310" name="Cloud VLM outcome"/>
          <p:cNvSpPr txBox="1"/>
          <p:nvPr/>
        </p:nvSpPr>
        <p:spPr>
          <a:xfrm>
            <a:off x="13484118" y="6492677"/>
            <a:ext cx="647517" cy="5687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11234B"/>
                </a:solidFill>
                <a:latin typeface="Arial"/>
              </a:defRPr>
            </a:pPr>
            <a:r>
              <a:t>VLM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11234B"/>
                </a:solidFill>
                <a:latin typeface="Arial"/>
              </a:defRPr>
            </a:pPr>
            <a:r>
              <a:t>train / infer</a:t>
            </a:r>
          </a:p>
        </p:txBody>
      </p:sp>
      <p:cxnSp>
        <p:nvCxnSpPr>
          <p:cNvPr id="311" name="Reuse fanout-0"/>
          <p:cNvCxnSpPr/>
          <p:nvPr/>
        </p:nvCxnSpPr>
        <p:spPr>
          <a:xfrm>
            <a:off x="12416589" y="6168918"/>
            <a:ext cx="271257" cy="0"/>
          </a:xfrm>
          <a:prstGeom prst="line">
            <a:avLst/>
          </a:prstGeom>
          <a:ln w="13970">
            <a:solidFill>
              <a:srgbClr val="112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Reuse fanout-1"/>
          <p:cNvCxnSpPr/>
          <p:nvPr/>
        </p:nvCxnSpPr>
        <p:spPr>
          <a:xfrm flipV="1">
            <a:off x="12687846" y="5705155"/>
            <a:ext cx="0" cy="463763"/>
          </a:xfrm>
          <a:prstGeom prst="line">
            <a:avLst/>
          </a:prstGeom>
          <a:ln w="13970">
            <a:solidFill>
              <a:srgbClr val="112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To edge head"/>
          <p:cNvCxnSpPr/>
          <p:nvPr/>
        </p:nvCxnSpPr>
        <p:spPr>
          <a:xfrm>
            <a:off x="12687846" y="5705155"/>
            <a:ext cx="227507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Reuse lower fanout-0"/>
          <p:cNvCxnSpPr/>
          <p:nvPr/>
        </p:nvCxnSpPr>
        <p:spPr>
          <a:xfrm>
            <a:off x="12687846" y="6168918"/>
            <a:ext cx="0" cy="612517"/>
          </a:xfrm>
          <a:prstGeom prst="line">
            <a:avLst/>
          </a:prstGeom>
          <a:ln w="13970">
            <a:solidFill>
              <a:srgbClr val="112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To cloud LLM"/>
          <p:cNvCxnSpPr/>
          <p:nvPr/>
        </p:nvCxnSpPr>
        <p:spPr>
          <a:xfrm>
            <a:off x="12687846" y="6781435"/>
            <a:ext cx="227507" cy="0"/>
          </a:xfrm>
          <a:prstGeom prst="line">
            <a:avLst/>
          </a:prstGeom>
          <a:ln w="13970">
            <a:solidFill>
              <a:srgbClr val="1123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Storage caption"/>
          <p:cNvSpPr/>
          <p:nvPr/>
        </p:nvSpPr>
        <p:spPr>
          <a:xfrm>
            <a:off x="7568956" y="7350200"/>
            <a:ext cx="6623931" cy="41126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torage characteristics"/>
          <p:cNvSpPr txBox="1"/>
          <p:nvPr/>
        </p:nvSpPr>
        <p:spPr>
          <a:xfrm>
            <a:off x="7682710" y="7393952"/>
            <a:ext cx="6405175" cy="315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77" b="0">
                <a:solidFill>
                  <a:srgbClr val="087D70"/>
                </a:solidFill>
                <a:latin typeface="Arial"/>
              </a:defRPr>
            </a:pPr>
            <a:r>
              <a:t>Deep split · Multi-task compatible · Multi-time reuse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